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69" r:id="rId4"/>
    <p:sldId id="257" r:id="rId5"/>
    <p:sldId id="258" r:id="rId6"/>
    <p:sldId id="259" r:id="rId7"/>
    <p:sldId id="260" r:id="rId8"/>
    <p:sldId id="261" r:id="rId9"/>
    <p:sldId id="262" r:id="rId10"/>
    <p:sldId id="264" r:id="rId11"/>
    <p:sldId id="265" r:id="rId12"/>
    <p:sldId id="266" r:id="rId13"/>
    <p:sldId id="267" r:id="rId14"/>
    <p:sldId id="273" r:id="rId15"/>
    <p:sldId id="270" r:id="rId16"/>
    <p:sldId id="274" r:id="rId17"/>
    <p:sldId id="271" r:id="rId18"/>
    <p:sldId id="275" r:id="rId19"/>
    <p:sldId id="272" r:id="rId20"/>
    <p:sldId id="276" r:id="rId21"/>
    <p:sldId id="2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56" autoAdjust="0"/>
    <p:restoredTop sz="94660"/>
  </p:normalViewPr>
  <p:slideViewPr>
    <p:cSldViewPr snapToGrid="0">
      <p:cViewPr varScale="1">
        <p:scale>
          <a:sx n="71" d="100"/>
          <a:sy n="71" d="100"/>
        </p:scale>
        <p:origin x="77" y="2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17820-0563-2F6C-CDD3-4F3A902214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692646A-0060-CADD-85C1-EF1ACB6226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EABDCAE-4B47-DA11-34A9-F24D7FC083A5}"/>
              </a:ext>
            </a:extLst>
          </p:cNvPr>
          <p:cNvSpPr>
            <a:spLocks noGrp="1"/>
          </p:cNvSpPr>
          <p:nvPr>
            <p:ph type="dt" sz="half" idx="10"/>
          </p:nvPr>
        </p:nvSpPr>
        <p:spPr/>
        <p:txBody>
          <a:bodyPr/>
          <a:lstStyle/>
          <a:p>
            <a:fld id="{D930B69A-3C75-413A-AFA2-342EB21F8D02}" type="datetimeFigureOut">
              <a:rPr lang="en-IN" smtClean="0"/>
              <a:t>03-01-2026</a:t>
            </a:fld>
            <a:endParaRPr lang="en-IN"/>
          </a:p>
        </p:txBody>
      </p:sp>
      <p:sp>
        <p:nvSpPr>
          <p:cNvPr id="5" name="Footer Placeholder 4">
            <a:extLst>
              <a:ext uri="{FF2B5EF4-FFF2-40B4-BE49-F238E27FC236}">
                <a16:creationId xmlns:a16="http://schemas.microsoft.com/office/drawing/2014/main" id="{CC6F1AD3-7FCA-2795-D49E-8BB0222FFE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CD82CC-2922-A012-1B83-407E182205A9}"/>
              </a:ext>
            </a:extLst>
          </p:cNvPr>
          <p:cNvSpPr>
            <a:spLocks noGrp="1"/>
          </p:cNvSpPr>
          <p:nvPr>
            <p:ph type="sldNum" sz="quarter" idx="12"/>
          </p:nvPr>
        </p:nvSpPr>
        <p:spPr/>
        <p:txBody>
          <a:bodyPr/>
          <a:lstStyle/>
          <a:p>
            <a:fld id="{3773C93F-3581-4B1C-9069-49775C8488D2}" type="slidenum">
              <a:rPr lang="en-IN" smtClean="0"/>
              <a:t>‹#›</a:t>
            </a:fld>
            <a:endParaRPr lang="en-IN"/>
          </a:p>
        </p:txBody>
      </p:sp>
    </p:spTree>
    <p:extLst>
      <p:ext uri="{BB962C8B-B14F-4D97-AF65-F5344CB8AC3E}">
        <p14:creationId xmlns:p14="http://schemas.microsoft.com/office/powerpoint/2010/main" val="4196462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87AA5-11D8-6518-1433-A3B700CC4C3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15D6A60-B14A-4557-6B5A-E5CA9B456D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A1F098-0D38-C8CF-5D64-B1125D562BA0}"/>
              </a:ext>
            </a:extLst>
          </p:cNvPr>
          <p:cNvSpPr>
            <a:spLocks noGrp="1"/>
          </p:cNvSpPr>
          <p:nvPr>
            <p:ph type="dt" sz="half" idx="10"/>
          </p:nvPr>
        </p:nvSpPr>
        <p:spPr/>
        <p:txBody>
          <a:bodyPr/>
          <a:lstStyle/>
          <a:p>
            <a:fld id="{D930B69A-3C75-413A-AFA2-342EB21F8D02}" type="datetimeFigureOut">
              <a:rPr lang="en-IN" smtClean="0"/>
              <a:t>03-01-2026</a:t>
            </a:fld>
            <a:endParaRPr lang="en-IN"/>
          </a:p>
        </p:txBody>
      </p:sp>
      <p:sp>
        <p:nvSpPr>
          <p:cNvPr id="5" name="Footer Placeholder 4">
            <a:extLst>
              <a:ext uri="{FF2B5EF4-FFF2-40B4-BE49-F238E27FC236}">
                <a16:creationId xmlns:a16="http://schemas.microsoft.com/office/drawing/2014/main" id="{74147BB1-849B-2226-08CA-870A1F5874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EC65F7-610B-B3AA-F2B1-C1EAE2BE83F9}"/>
              </a:ext>
            </a:extLst>
          </p:cNvPr>
          <p:cNvSpPr>
            <a:spLocks noGrp="1"/>
          </p:cNvSpPr>
          <p:nvPr>
            <p:ph type="sldNum" sz="quarter" idx="12"/>
          </p:nvPr>
        </p:nvSpPr>
        <p:spPr/>
        <p:txBody>
          <a:bodyPr/>
          <a:lstStyle/>
          <a:p>
            <a:fld id="{3773C93F-3581-4B1C-9069-49775C8488D2}" type="slidenum">
              <a:rPr lang="en-IN" smtClean="0"/>
              <a:t>‹#›</a:t>
            </a:fld>
            <a:endParaRPr lang="en-IN"/>
          </a:p>
        </p:txBody>
      </p:sp>
    </p:spTree>
    <p:extLst>
      <p:ext uri="{BB962C8B-B14F-4D97-AF65-F5344CB8AC3E}">
        <p14:creationId xmlns:p14="http://schemas.microsoft.com/office/powerpoint/2010/main" val="719288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46CCE-907D-E3B2-7077-FB72768CB3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E74DD83-446A-1EC8-BA93-211AFF8AB5B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BFB7FE-289E-1FA5-310A-62C719654FB0}"/>
              </a:ext>
            </a:extLst>
          </p:cNvPr>
          <p:cNvSpPr>
            <a:spLocks noGrp="1"/>
          </p:cNvSpPr>
          <p:nvPr>
            <p:ph type="dt" sz="half" idx="10"/>
          </p:nvPr>
        </p:nvSpPr>
        <p:spPr/>
        <p:txBody>
          <a:bodyPr/>
          <a:lstStyle/>
          <a:p>
            <a:fld id="{D930B69A-3C75-413A-AFA2-342EB21F8D02}" type="datetimeFigureOut">
              <a:rPr lang="en-IN" smtClean="0"/>
              <a:t>03-01-2026</a:t>
            </a:fld>
            <a:endParaRPr lang="en-IN"/>
          </a:p>
        </p:txBody>
      </p:sp>
      <p:sp>
        <p:nvSpPr>
          <p:cNvPr id="5" name="Footer Placeholder 4">
            <a:extLst>
              <a:ext uri="{FF2B5EF4-FFF2-40B4-BE49-F238E27FC236}">
                <a16:creationId xmlns:a16="http://schemas.microsoft.com/office/drawing/2014/main" id="{F8268D0E-356F-63E5-FF9D-741AAAA8C7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254736-CC7A-86CF-132E-D74B965EFABD}"/>
              </a:ext>
            </a:extLst>
          </p:cNvPr>
          <p:cNvSpPr>
            <a:spLocks noGrp="1"/>
          </p:cNvSpPr>
          <p:nvPr>
            <p:ph type="sldNum" sz="quarter" idx="12"/>
          </p:nvPr>
        </p:nvSpPr>
        <p:spPr/>
        <p:txBody>
          <a:bodyPr/>
          <a:lstStyle/>
          <a:p>
            <a:fld id="{3773C93F-3581-4B1C-9069-49775C8488D2}" type="slidenum">
              <a:rPr lang="en-IN" smtClean="0"/>
              <a:t>‹#›</a:t>
            </a:fld>
            <a:endParaRPr lang="en-IN"/>
          </a:p>
        </p:txBody>
      </p:sp>
    </p:spTree>
    <p:extLst>
      <p:ext uri="{BB962C8B-B14F-4D97-AF65-F5344CB8AC3E}">
        <p14:creationId xmlns:p14="http://schemas.microsoft.com/office/powerpoint/2010/main" val="2501423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6D18E-6798-045A-7F35-AF4C72CF5C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F6C518E-1841-6FBB-3229-F5086561D6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8C244FD-5FD9-10C4-2382-2C8A2C73CD5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356193-555D-DC62-FADB-D2E3D758AD64}"/>
              </a:ext>
            </a:extLst>
          </p:cNvPr>
          <p:cNvSpPr>
            <a:spLocks noGrp="1"/>
          </p:cNvSpPr>
          <p:nvPr>
            <p:ph type="dt" sz="half" idx="10"/>
          </p:nvPr>
        </p:nvSpPr>
        <p:spPr/>
        <p:txBody>
          <a:bodyPr/>
          <a:lstStyle/>
          <a:p>
            <a:fld id="{D930B69A-3C75-413A-AFA2-342EB21F8D02}" type="datetimeFigureOut">
              <a:rPr lang="en-IN" smtClean="0"/>
              <a:t>03-01-2026</a:t>
            </a:fld>
            <a:endParaRPr lang="en-IN"/>
          </a:p>
        </p:txBody>
      </p:sp>
      <p:sp>
        <p:nvSpPr>
          <p:cNvPr id="6" name="Footer Placeholder 5">
            <a:extLst>
              <a:ext uri="{FF2B5EF4-FFF2-40B4-BE49-F238E27FC236}">
                <a16:creationId xmlns:a16="http://schemas.microsoft.com/office/drawing/2014/main" id="{0415795B-34D6-D79C-1613-DC134C93B0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FAAFDA5-659E-EE18-7564-B156F73DB33D}"/>
              </a:ext>
            </a:extLst>
          </p:cNvPr>
          <p:cNvSpPr>
            <a:spLocks noGrp="1"/>
          </p:cNvSpPr>
          <p:nvPr>
            <p:ph type="sldNum" sz="quarter" idx="12"/>
          </p:nvPr>
        </p:nvSpPr>
        <p:spPr/>
        <p:txBody>
          <a:bodyPr/>
          <a:lstStyle/>
          <a:p>
            <a:fld id="{3773C93F-3581-4B1C-9069-49775C8488D2}" type="slidenum">
              <a:rPr lang="en-IN" smtClean="0"/>
              <a:t>‹#›</a:t>
            </a:fld>
            <a:endParaRPr lang="en-IN"/>
          </a:p>
        </p:txBody>
      </p:sp>
    </p:spTree>
    <p:extLst>
      <p:ext uri="{BB962C8B-B14F-4D97-AF65-F5344CB8AC3E}">
        <p14:creationId xmlns:p14="http://schemas.microsoft.com/office/powerpoint/2010/main" val="1658744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ECF5E-A019-A143-079C-93A87BF04C2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E0AEC2D-0DEC-B821-945A-3082ECB57A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6A55B7-1A2E-CBD7-584D-CFA98431CC9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2E82501-535F-BF3C-0BF5-EFCD83DEDE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B5C874-7D49-29B5-8248-FA9F5EB128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C080974-9806-5B47-8F28-12AE24BD8F94}"/>
              </a:ext>
            </a:extLst>
          </p:cNvPr>
          <p:cNvSpPr>
            <a:spLocks noGrp="1"/>
          </p:cNvSpPr>
          <p:nvPr>
            <p:ph type="dt" sz="half" idx="10"/>
          </p:nvPr>
        </p:nvSpPr>
        <p:spPr/>
        <p:txBody>
          <a:bodyPr/>
          <a:lstStyle/>
          <a:p>
            <a:fld id="{D930B69A-3C75-413A-AFA2-342EB21F8D02}" type="datetimeFigureOut">
              <a:rPr lang="en-IN" smtClean="0"/>
              <a:t>03-01-2026</a:t>
            </a:fld>
            <a:endParaRPr lang="en-IN"/>
          </a:p>
        </p:txBody>
      </p:sp>
      <p:sp>
        <p:nvSpPr>
          <p:cNvPr id="8" name="Footer Placeholder 7">
            <a:extLst>
              <a:ext uri="{FF2B5EF4-FFF2-40B4-BE49-F238E27FC236}">
                <a16:creationId xmlns:a16="http://schemas.microsoft.com/office/drawing/2014/main" id="{593ADEBB-7D76-FAD9-FE5F-371A02CC04B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C2876AD-BD2D-8367-EBB2-66DF909D4FC0}"/>
              </a:ext>
            </a:extLst>
          </p:cNvPr>
          <p:cNvSpPr>
            <a:spLocks noGrp="1"/>
          </p:cNvSpPr>
          <p:nvPr>
            <p:ph type="sldNum" sz="quarter" idx="12"/>
          </p:nvPr>
        </p:nvSpPr>
        <p:spPr/>
        <p:txBody>
          <a:bodyPr/>
          <a:lstStyle/>
          <a:p>
            <a:fld id="{3773C93F-3581-4B1C-9069-49775C8488D2}" type="slidenum">
              <a:rPr lang="en-IN" smtClean="0"/>
              <a:t>‹#›</a:t>
            </a:fld>
            <a:endParaRPr lang="en-IN"/>
          </a:p>
        </p:txBody>
      </p:sp>
    </p:spTree>
    <p:extLst>
      <p:ext uri="{BB962C8B-B14F-4D97-AF65-F5344CB8AC3E}">
        <p14:creationId xmlns:p14="http://schemas.microsoft.com/office/powerpoint/2010/main" val="174412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B80CB-3F6C-0902-64F5-6571E7D876C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A28BBC0-D68C-6622-70F3-A33BB93498D0}"/>
              </a:ext>
            </a:extLst>
          </p:cNvPr>
          <p:cNvSpPr>
            <a:spLocks noGrp="1"/>
          </p:cNvSpPr>
          <p:nvPr>
            <p:ph type="dt" sz="half" idx="10"/>
          </p:nvPr>
        </p:nvSpPr>
        <p:spPr/>
        <p:txBody>
          <a:bodyPr/>
          <a:lstStyle/>
          <a:p>
            <a:fld id="{D930B69A-3C75-413A-AFA2-342EB21F8D02}" type="datetimeFigureOut">
              <a:rPr lang="en-IN" smtClean="0"/>
              <a:t>03-01-2026</a:t>
            </a:fld>
            <a:endParaRPr lang="en-IN"/>
          </a:p>
        </p:txBody>
      </p:sp>
      <p:sp>
        <p:nvSpPr>
          <p:cNvPr id="4" name="Footer Placeholder 3">
            <a:extLst>
              <a:ext uri="{FF2B5EF4-FFF2-40B4-BE49-F238E27FC236}">
                <a16:creationId xmlns:a16="http://schemas.microsoft.com/office/drawing/2014/main" id="{334E79CB-A6B9-A1D6-4ED9-712AA2F131C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BD4A838-4CD4-8B73-7BC5-67A77AE25632}"/>
              </a:ext>
            </a:extLst>
          </p:cNvPr>
          <p:cNvSpPr>
            <a:spLocks noGrp="1"/>
          </p:cNvSpPr>
          <p:nvPr>
            <p:ph type="sldNum" sz="quarter" idx="12"/>
          </p:nvPr>
        </p:nvSpPr>
        <p:spPr/>
        <p:txBody>
          <a:bodyPr/>
          <a:lstStyle/>
          <a:p>
            <a:fld id="{3773C93F-3581-4B1C-9069-49775C8488D2}" type="slidenum">
              <a:rPr lang="en-IN" smtClean="0"/>
              <a:t>‹#›</a:t>
            </a:fld>
            <a:endParaRPr lang="en-IN"/>
          </a:p>
        </p:txBody>
      </p:sp>
    </p:spTree>
    <p:extLst>
      <p:ext uri="{BB962C8B-B14F-4D97-AF65-F5344CB8AC3E}">
        <p14:creationId xmlns:p14="http://schemas.microsoft.com/office/powerpoint/2010/main" val="2216827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8412EC-E335-A979-15BC-D10041FC70E7}"/>
              </a:ext>
            </a:extLst>
          </p:cNvPr>
          <p:cNvSpPr>
            <a:spLocks noGrp="1"/>
          </p:cNvSpPr>
          <p:nvPr>
            <p:ph type="dt" sz="half" idx="10"/>
          </p:nvPr>
        </p:nvSpPr>
        <p:spPr/>
        <p:txBody>
          <a:bodyPr/>
          <a:lstStyle/>
          <a:p>
            <a:fld id="{D930B69A-3C75-413A-AFA2-342EB21F8D02}" type="datetimeFigureOut">
              <a:rPr lang="en-IN" smtClean="0"/>
              <a:t>03-01-2026</a:t>
            </a:fld>
            <a:endParaRPr lang="en-IN"/>
          </a:p>
        </p:txBody>
      </p:sp>
      <p:sp>
        <p:nvSpPr>
          <p:cNvPr id="3" name="Footer Placeholder 2">
            <a:extLst>
              <a:ext uri="{FF2B5EF4-FFF2-40B4-BE49-F238E27FC236}">
                <a16:creationId xmlns:a16="http://schemas.microsoft.com/office/drawing/2014/main" id="{5EB9347E-0180-CCF3-44C2-BB90FC68057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2301F55-FBD5-D2C9-D7B5-115FF33900C7}"/>
              </a:ext>
            </a:extLst>
          </p:cNvPr>
          <p:cNvSpPr>
            <a:spLocks noGrp="1"/>
          </p:cNvSpPr>
          <p:nvPr>
            <p:ph type="sldNum" sz="quarter" idx="12"/>
          </p:nvPr>
        </p:nvSpPr>
        <p:spPr/>
        <p:txBody>
          <a:bodyPr/>
          <a:lstStyle/>
          <a:p>
            <a:fld id="{3773C93F-3581-4B1C-9069-49775C8488D2}" type="slidenum">
              <a:rPr lang="en-IN" smtClean="0"/>
              <a:t>‹#›</a:t>
            </a:fld>
            <a:endParaRPr lang="en-IN"/>
          </a:p>
        </p:txBody>
      </p:sp>
    </p:spTree>
    <p:extLst>
      <p:ext uri="{BB962C8B-B14F-4D97-AF65-F5344CB8AC3E}">
        <p14:creationId xmlns:p14="http://schemas.microsoft.com/office/powerpoint/2010/main" val="3983716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47D58-548B-84C5-3776-64CC42E3F8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B16DA7D-4CE3-EB55-3775-CA790A07CD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9DCA8B5-7572-2D12-19A5-A079649C6C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6DC4D5-5B4C-E6C8-8AD5-0A8DF9C5ADE9}"/>
              </a:ext>
            </a:extLst>
          </p:cNvPr>
          <p:cNvSpPr>
            <a:spLocks noGrp="1"/>
          </p:cNvSpPr>
          <p:nvPr>
            <p:ph type="dt" sz="half" idx="10"/>
          </p:nvPr>
        </p:nvSpPr>
        <p:spPr/>
        <p:txBody>
          <a:bodyPr/>
          <a:lstStyle/>
          <a:p>
            <a:fld id="{D930B69A-3C75-413A-AFA2-342EB21F8D02}" type="datetimeFigureOut">
              <a:rPr lang="en-IN" smtClean="0"/>
              <a:t>03-01-2026</a:t>
            </a:fld>
            <a:endParaRPr lang="en-IN"/>
          </a:p>
        </p:txBody>
      </p:sp>
      <p:sp>
        <p:nvSpPr>
          <p:cNvPr id="6" name="Footer Placeholder 5">
            <a:extLst>
              <a:ext uri="{FF2B5EF4-FFF2-40B4-BE49-F238E27FC236}">
                <a16:creationId xmlns:a16="http://schemas.microsoft.com/office/drawing/2014/main" id="{A5ADB3DF-355C-50EC-A172-6DC69699F7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2C1A69-DE69-6349-5CA6-4EA8C85355AA}"/>
              </a:ext>
            </a:extLst>
          </p:cNvPr>
          <p:cNvSpPr>
            <a:spLocks noGrp="1"/>
          </p:cNvSpPr>
          <p:nvPr>
            <p:ph type="sldNum" sz="quarter" idx="12"/>
          </p:nvPr>
        </p:nvSpPr>
        <p:spPr/>
        <p:txBody>
          <a:bodyPr/>
          <a:lstStyle/>
          <a:p>
            <a:fld id="{3773C93F-3581-4B1C-9069-49775C8488D2}" type="slidenum">
              <a:rPr lang="en-IN" smtClean="0"/>
              <a:t>‹#›</a:t>
            </a:fld>
            <a:endParaRPr lang="en-IN"/>
          </a:p>
        </p:txBody>
      </p:sp>
    </p:spTree>
    <p:extLst>
      <p:ext uri="{BB962C8B-B14F-4D97-AF65-F5344CB8AC3E}">
        <p14:creationId xmlns:p14="http://schemas.microsoft.com/office/powerpoint/2010/main" val="1964563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ECAA0-7B02-0BB9-5741-76C9AAC85B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ABBEC0D-1F21-C16F-EA11-596B6FF3A7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53A94B2-EDE9-0CC8-B2E6-D0A30B8193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A26764-E246-8BDC-DB5F-51C9A3438C0C}"/>
              </a:ext>
            </a:extLst>
          </p:cNvPr>
          <p:cNvSpPr>
            <a:spLocks noGrp="1"/>
          </p:cNvSpPr>
          <p:nvPr>
            <p:ph type="dt" sz="half" idx="10"/>
          </p:nvPr>
        </p:nvSpPr>
        <p:spPr/>
        <p:txBody>
          <a:bodyPr/>
          <a:lstStyle/>
          <a:p>
            <a:fld id="{D930B69A-3C75-413A-AFA2-342EB21F8D02}" type="datetimeFigureOut">
              <a:rPr lang="en-IN" smtClean="0"/>
              <a:t>03-01-2026</a:t>
            </a:fld>
            <a:endParaRPr lang="en-IN"/>
          </a:p>
        </p:txBody>
      </p:sp>
      <p:sp>
        <p:nvSpPr>
          <p:cNvPr id="6" name="Footer Placeholder 5">
            <a:extLst>
              <a:ext uri="{FF2B5EF4-FFF2-40B4-BE49-F238E27FC236}">
                <a16:creationId xmlns:a16="http://schemas.microsoft.com/office/drawing/2014/main" id="{0CBC56A4-669F-4D5D-56C1-7F5121DD3F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9BDF31-873B-A8B6-224E-053B83478CE8}"/>
              </a:ext>
            </a:extLst>
          </p:cNvPr>
          <p:cNvSpPr>
            <a:spLocks noGrp="1"/>
          </p:cNvSpPr>
          <p:nvPr>
            <p:ph type="sldNum" sz="quarter" idx="12"/>
          </p:nvPr>
        </p:nvSpPr>
        <p:spPr/>
        <p:txBody>
          <a:bodyPr/>
          <a:lstStyle/>
          <a:p>
            <a:fld id="{3773C93F-3581-4B1C-9069-49775C8488D2}" type="slidenum">
              <a:rPr lang="en-IN" smtClean="0"/>
              <a:t>‹#›</a:t>
            </a:fld>
            <a:endParaRPr lang="en-IN"/>
          </a:p>
        </p:txBody>
      </p:sp>
    </p:spTree>
    <p:extLst>
      <p:ext uri="{BB962C8B-B14F-4D97-AF65-F5344CB8AC3E}">
        <p14:creationId xmlns:p14="http://schemas.microsoft.com/office/powerpoint/2010/main" val="4237337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2B9FC-E3DE-5AB2-C584-CF533719E84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1CC8DC-E4AF-DB6A-4040-4F4FA541B0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17695E-F36C-18FA-02BC-B3F53154A250}"/>
              </a:ext>
            </a:extLst>
          </p:cNvPr>
          <p:cNvSpPr>
            <a:spLocks noGrp="1"/>
          </p:cNvSpPr>
          <p:nvPr>
            <p:ph type="dt" sz="half" idx="10"/>
          </p:nvPr>
        </p:nvSpPr>
        <p:spPr/>
        <p:txBody>
          <a:bodyPr/>
          <a:lstStyle/>
          <a:p>
            <a:fld id="{D930B69A-3C75-413A-AFA2-342EB21F8D02}" type="datetimeFigureOut">
              <a:rPr lang="en-IN" smtClean="0"/>
              <a:t>03-01-2026</a:t>
            </a:fld>
            <a:endParaRPr lang="en-IN"/>
          </a:p>
        </p:txBody>
      </p:sp>
      <p:sp>
        <p:nvSpPr>
          <p:cNvPr id="5" name="Footer Placeholder 4">
            <a:extLst>
              <a:ext uri="{FF2B5EF4-FFF2-40B4-BE49-F238E27FC236}">
                <a16:creationId xmlns:a16="http://schemas.microsoft.com/office/drawing/2014/main" id="{CE530971-4BD7-DD32-1C50-9E8BB8DC65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D95BEA-809E-F50A-017F-50C46930994D}"/>
              </a:ext>
            </a:extLst>
          </p:cNvPr>
          <p:cNvSpPr>
            <a:spLocks noGrp="1"/>
          </p:cNvSpPr>
          <p:nvPr>
            <p:ph type="sldNum" sz="quarter" idx="12"/>
          </p:nvPr>
        </p:nvSpPr>
        <p:spPr/>
        <p:txBody>
          <a:bodyPr/>
          <a:lstStyle/>
          <a:p>
            <a:fld id="{3773C93F-3581-4B1C-9069-49775C8488D2}" type="slidenum">
              <a:rPr lang="en-IN" smtClean="0"/>
              <a:t>‹#›</a:t>
            </a:fld>
            <a:endParaRPr lang="en-IN"/>
          </a:p>
        </p:txBody>
      </p:sp>
    </p:spTree>
    <p:extLst>
      <p:ext uri="{BB962C8B-B14F-4D97-AF65-F5344CB8AC3E}">
        <p14:creationId xmlns:p14="http://schemas.microsoft.com/office/powerpoint/2010/main" val="289308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8AAF08-4560-9208-74C5-0DF320D9ADF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E6D3322-C1F3-4D40-BD0F-7715209FC7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1E7499-20DC-DC78-9BA0-A8EDEE4EBCDA}"/>
              </a:ext>
            </a:extLst>
          </p:cNvPr>
          <p:cNvSpPr>
            <a:spLocks noGrp="1"/>
          </p:cNvSpPr>
          <p:nvPr>
            <p:ph type="dt" sz="half" idx="10"/>
          </p:nvPr>
        </p:nvSpPr>
        <p:spPr/>
        <p:txBody>
          <a:bodyPr/>
          <a:lstStyle/>
          <a:p>
            <a:fld id="{D930B69A-3C75-413A-AFA2-342EB21F8D02}" type="datetimeFigureOut">
              <a:rPr lang="en-IN" smtClean="0"/>
              <a:t>03-01-2026</a:t>
            </a:fld>
            <a:endParaRPr lang="en-IN"/>
          </a:p>
        </p:txBody>
      </p:sp>
      <p:sp>
        <p:nvSpPr>
          <p:cNvPr id="5" name="Footer Placeholder 4">
            <a:extLst>
              <a:ext uri="{FF2B5EF4-FFF2-40B4-BE49-F238E27FC236}">
                <a16:creationId xmlns:a16="http://schemas.microsoft.com/office/drawing/2014/main" id="{83AC7306-9082-D4A0-E9AB-C34C424DE2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6B4B9A-4EB4-F2AF-402A-774487883E3E}"/>
              </a:ext>
            </a:extLst>
          </p:cNvPr>
          <p:cNvSpPr>
            <a:spLocks noGrp="1"/>
          </p:cNvSpPr>
          <p:nvPr>
            <p:ph type="sldNum" sz="quarter" idx="12"/>
          </p:nvPr>
        </p:nvSpPr>
        <p:spPr/>
        <p:txBody>
          <a:bodyPr/>
          <a:lstStyle/>
          <a:p>
            <a:fld id="{3773C93F-3581-4B1C-9069-49775C8488D2}" type="slidenum">
              <a:rPr lang="en-IN" smtClean="0"/>
              <a:t>‹#›</a:t>
            </a:fld>
            <a:endParaRPr lang="en-IN"/>
          </a:p>
        </p:txBody>
      </p:sp>
    </p:spTree>
    <p:extLst>
      <p:ext uri="{BB962C8B-B14F-4D97-AF65-F5344CB8AC3E}">
        <p14:creationId xmlns:p14="http://schemas.microsoft.com/office/powerpoint/2010/main" val="3666523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A9D5D4-584C-BC04-1EB5-D09972E6D2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674CAAA-BCD2-D4B5-C788-7CFFDFF9C0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1CC0BB-B137-5940-FE4F-EC13E2188D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930B69A-3C75-413A-AFA2-342EB21F8D02}" type="datetimeFigureOut">
              <a:rPr lang="en-IN" smtClean="0"/>
              <a:t>03-01-2026</a:t>
            </a:fld>
            <a:endParaRPr lang="en-IN"/>
          </a:p>
        </p:txBody>
      </p:sp>
      <p:sp>
        <p:nvSpPr>
          <p:cNvPr id="5" name="Footer Placeholder 4">
            <a:extLst>
              <a:ext uri="{FF2B5EF4-FFF2-40B4-BE49-F238E27FC236}">
                <a16:creationId xmlns:a16="http://schemas.microsoft.com/office/drawing/2014/main" id="{5BB1229B-C113-ACC8-2DA3-1CBBD4A793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EA61C68-CE3F-0F8A-6875-84D6A916BA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773C93F-3581-4B1C-9069-49775C8488D2}" type="slidenum">
              <a:rPr lang="en-IN" smtClean="0"/>
              <a:t>‹#›</a:t>
            </a:fld>
            <a:endParaRPr lang="en-IN"/>
          </a:p>
        </p:txBody>
      </p:sp>
    </p:spTree>
    <p:extLst>
      <p:ext uri="{BB962C8B-B14F-4D97-AF65-F5344CB8AC3E}">
        <p14:creationId xmlns:p14="http://schemas.microsoft.com/office/powerpoint/2010/main" val="42774907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04372-518E-E18A-2D28-7408A093BDC5}"/>
              </a:ext>
            </a:extLst>
          </p:cNvPr>
          <p:cNvSpPr>
            <a:spLocks noGrp="1"/>
          </p:cNvSpPr>
          <p:nvPr>
            <p:ph type="ctrTitle"/>
          </p:nvPr>
        </p:nvSpPr>
        <p:spPr/>
        <p:txBody>
          <a:bodyPr/>
          <a:lstStyle/>
          <a:p>
            <a:r>
              <a:rPr lang="en-US" dirty="0"/>
              <a:t>Infosys </a:t>
            </a:r>
            <a:r>
              <a:rPr lang="en-US" dirty="0" err="1"/>
              <a:t>ElectViz</a:t>
            </a:r>
            <a:r>
              <a:rPr lang="en-US" dirty="0"/>
              <a:t> – Election Data Visualization for Media</a:t>
            </a:r>
            <a:endParaRPr lang="en-IN" dirty="0"/>
          </a:p>
        </p:txBody>
      </p:sp>
      <p:sp>
        <p:nvSpPr>
          <p:cNvPr id="3" name="Subtitle 2">
            <a:extLst>
              <a:ext uri="{FF2B5EF4-FFF2-40B4-BE49-F238E27FC236}">
                <a16:creationId xmlns:a16="http://schemas.microsoft.com/office/drawing/2014/main" id="{177E2CC3-9F7E-B322-4C4A-E7F466D42F84}"/>
              </a:ext>
            </a:extLst>
          </p:cNvPr>
          <p:cNvSpPr>
            <a:spLocks noGrp="1"/>
          </p:cNvSpPr>
          <p:nvPr>
            <p:ph type="subTitle" idx="1"/>
          </p:nvPr>
        </p:nvSpPr>
        <p:spPr/>
        <p:txBody>
          <a:bodyPr>
            <a:normAutofit lnSpcReduction="10000"/>
          </a:bodyPr>
          <a:lstStyle/>
          <a:p>
            <a:r>
              <a:rPr lang="en-IN" dirty="0"/>
              <a:t>Team D</a:t>
            </a:r>
          </a:p>
          <a:p>
            <a:r>
              <a:rPr lang="en-IN" dirty="0" err="1"/>
              <a:t>Busetty</a:t>
            </a:r>
            <a:r>
              <a:rPr lang="en-IN" dirty="0"/>
              <a:t> </a:t>
            </a:r>
            <a:r>
              <a:rPr lang="en-IN" dirty="0" err="1"/>
              <a:t>Sugnesh</a:t>
            </a:r>
            <a:endParaRPr lang="en-IN" dirty="0"/>
          </a:p>
          <a:p>
            <a:r>
              <a:rPr lang="en-IN" dirty="0"/>
              <a:t>Shruti Bore</a:t>
            </a:r>
          </a:p>
          <a:p>
            <a:r>
              <a:rPr lang="en-IN" dirty="0"/>
              <a:t>Jaavanika L</a:t>
            </a:r>
          </a:p>
          <a:p>
            <a:endParaRPr lang="en-IN" dirty="0"/>
          </a:p>
        </p:txBody>
      </p:sp>
    </p:spTree>
    <p:extLst>
      <p:ext uri="{BB962C8B-B14F-4D97-AF65-F5344CB8AC3E}">
        <p14:creationId xmlns:p14="http://schemas.microsoft.com/office/powerpoint/2010/main" val="4447733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6E29D8-E8A3-E10A-20E0-DEDB62C537AB}"/>
              </a:ext>
            </a:extLst>
          </p:cNvPr>
          <p:cNvSpPr>
            <a:spLocks noGrp="1"/>
          </p:cNvSpPr>
          <p:nvPr>
            <p:ph type="title"/>
          </p:nvPr>
        </p:nvSpPr>
        <p:spPr>
          <a:xfrm>
            <a:off x="686834" y="1153572"/>
            <a:ext cx="3200400" cy="4461163"/>
          </a:xfrm>
        </p:spPr>
        <p:txBody>
          <a:bodyPr>
            <a:normAutofit/>
          </a:bodyPr>
          <a:lstStyle/>
          <a:p>
            <a:r>
              <a:rPr lang="en-IN">
                <a:solidFill>
                  <a:srgbClr val="FFFFFF"/>
                </a:solidFill>
              </a:rPr>
              <a:t>Abstract</a:t>
            </a:r>
          </a:p>
        </p:txBody>
      </p:sp>
      <p:sp>
        <p:nvSpPr>
          <p:cNvPr id="23" name="Arc 2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0057933-56CA-1E8C-EF2D-43EF1166B1EC}"/>
              </a:ext>
            </a:extLst>
          </p:cNvPr>
          <p:cNvSpPr>
            <a:spLocks noGrp="1"/>
          </p:cNvSpPr>
          <p:nvPr>
            <p:ph idx="1"/>
          </p:nvPr>
        </p:nvSpPr>
        <p:spPr>
          <a:xfrm>
            <a:off x="4447308" y="591344"/>
            <a:ext cx="6906491" cy="5585619"/>
          </a:xfrm>
        </p:spPr>
        <p:txBody>
          <a:bodyPr anchor="ctr">
            <a:normAutofit/>
          </a:bodyPr>
          <a:lstStyle/>
          <a:p>
            <a:pPr marL="0" indent="0">
              <a:buNone/>
            </a:pPr>
            <a:r>
              <a:rPr lang="en-US" sz="1800"/>
              <a:t>Infosys </a:t>
            </a:r>
            <a:r>
              <a:rPr lang="en-US" sz="1800" err="1"/>
              <a:t>ElectViz</a:t>
            </a:r>
            <a:r>
              <a:rPr lang="en-US" sz="1800"/>
              <a:t> is an election data visualization platform developed to present the 2024 Indian General Election results in a clear and media-focused format. It integrates constituency-level voting data with party, alliance, and state-wise results into a unified analytical model. Using structured data modeling and DAX calculations, the platform generates key insights such as alliance dominance, seat distribution, and candidate performance. The interactive dashboards enable seamless navigation from national overviews to detailed constituency analysis for effective election storytelling.</a:t>
            </a:r>
          </a:p>
          <a:p>
            <a:pPr marL="0" indent="0">
              <a:buNone/>
            </a:pPr>
            <a:endParaRPr lang="en-IN" sz="1800"/>
          </a:p>
          <a:p>
            <a:pPr marL="0" indent="0">
              <a:buNone/>
            </a:pPr>
            <a:r>
              <a:rPr lang="en-IN" sz="1800"/>
              <a:t>1. </a:t>
            </a:r>
            <a:r>
              <a:rPr lang="en-US" sz="1800"/>
              <a:t>Enables multi-level election analysis from national overview to constituency-level details through interactive dashboards.</a:t>
            </a:r>
            <a:endParaRPr lang="en-US" sz="1800" u="none" strike="noStrike">
              <a:latin typeface="Open Sauce"/>
              <a:ea typeface="Open Sauce"/>
              <a:cs typeface="Open Sauce"/>
              <a:sym typeface="Open Sauce"/>
            </a:endParaRPr>
          </a:p>
          <a:p>
            <a:pPr marL="0" indent="0">
              <a:buNone/>
            </a:pPr>
            <a:r>
              <a:rPr lang="en-IN" sz="1800"/>
              <a:t>2. </a:t>
            </a:r>
            <a:r>
              <a:rPr lang="en-US" sz="1800"/>
              <a:t>Applies advanced DAX logic to accurately compute alliance classification, winning candidates, vote shares, and rankings.</a:t>
            </a:r>
            <a:endParaRPr lang="en-US" sz="1800" u="none" strike="noStrike">
              <a:latin typeface="Open Sauce"/>
              <a:ea typeface="Open Sauce"/>
              <a:cs typeface="Open Sauce"/>
              <a:sym typeface="Open Sauce"/>
            </a:endParaRPr>
          </a:p>
          <a:p>
            <a:pPr marL="0" indent="0">
              <a:buNone/>
            </a:pPr>
            <a:r>
              <a:rPr lang="en-IN" sz="1800"/>
              <a:t>3. </a:t>
            </a:r>
            <a:r>
              <a:rPr lang="en-US" sz="1800"/>
              <a:t>Designed specifically for media and analytical use cases, ensuring fast interpretation, clarity, and data-driven election narratives.</a:t>
            </a:r>
            <a:endParaRPr lang="en-US" sz="1800" u="none" strike="noStrike">
              <a:latin typeface="Open Sauce"/>
              <a:ea typeface="Open Sauce"/>
              <a:cs typeface="Open Sauce"/>
              <a:sym typeface="Open Sauce"/>
            </a:endParaRPr>
          </a:p>
          <a:p>
            <a:pPr marL="0" indent="0">
              <a:buNone/>
            </a:pPr>
            <a:endParaRPr lang="en-IN" sz="1800"/>
          </a:p>
        </p:txBody>
      </p:sp>
    </p:spTree>
    <p:extLst>
      <p:ext uri="{BB962C8B-B14F-4D97-AF65-F5344CB8AC3E}">
        <p14:creationId xmlns:p14="http://schemas.microsoft.com/office/powerpoint/2010/main" val="2355906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Freeform: Shape 16">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8" name="Freeform: Shape 17">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B54239B-AB3D-FFBF-8D8A-8648A829D68F}"/>
              </a:ext>
            </a:extLst>
          </p:cNvPr>
          <p:cNvSpPr>
            <a:spLocks noGrp="1"/>
          </p:cNvSpPr>
          <p:nvPr>
            <p:ph type="title"/>
          </p:nvPr>
        </p:nvSpPr>
        <p:spPr>
          <a:xfrm>
            <a:off x="621792" y="1161288"/>
            <a:ext cx="3602736" cy="4526280"/>
          </a:xfrm>
        </p:spPr>
        <p:txBody>
          <a:bodyPr>
            <a:normAutofit/>
          </a:bodyPr>
          <a:lstStyle/>
          <a:p>
            <a:r>
              <a:rPr lang="en-IN" sz="4000"/>
              <a:t>Background &amp; Motivation</a:t>
            </a:r>
            <a:br>
              <a:rPr lang="en-US" sz="4000">
                <a:latin typeface="DM Serif Display"/>
                <a:ea typeface="DM Serif Display"/>
                <a:cs typeface="DM Serif Display"/>
                <a:sym typeface="DM Serif Display"/>
              </a:rPr>
            </a:br>
            <a:endParaRPr lang="en-IN" sz="4000"/>
          </a:p>
        </p:txBody>
      </p:sp>
      <p:sp>
        <p:nvSpPr>
          <p:cNvPr id="19" name="Rectangle 18">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4013AD42-7415-F4FD-FB4A-AB3B7D1F4412}"/>
              </a:ext>
            </a:extLst>
          </p:cNvPr>
          <p:cNvSpPr>
            <a:spLocks noGrp="1"/>
          </p:cNvSpPr>
          <p:nvPr>
            <p:ph idx="1"/>
          </p:nvPr>
        </p:nvSpPr>
        <p:spPr>
          <a:xfrm>
            <a:off x="5434149" y="932688"/>
            <a:ext cx="5916603" cy="4992624"/>
          </a:xfrm>
        </p:spPr>
        <p:txBody>
          <a:bodyPr anchor="ctr">
            <a:normAutofit/>
          </a:bodyPr>
          <a:lstStyle/>
          <a:p>
            <a:pPr marL="0" indent="0">
              <a:buNone/>
            </a:pPr>
            <a:r>
              <a:rPr lang="en-IN" sz="2000"/>
              <a:t>1. </a:t>
            </a:r>
            <a:r>
              <a:rPr lang="en-US" sz="2000"/>
              <a:t>Indian General Election data is highly complex and multi-dimensional, making traditional tabular analysis slow and difficult to interpret.</a:t>
            </a:r>
            <a:endParaRPr lang="en-US" sz="2000" u="none" strike="noStrike">
              <a:latin typeface="Open Sauce"/>
              <a:ea typeface="Open Sauce"/>
              <a:cs typeface="Open Sauce"/>
              <a:sym typeface="Open Sauce"/>
            </a:endParaRPr>
          </a:p>
          <a:p>
            <a:pPr marL="0" indent="0">
              <a:buNone/>
            </a:pPr>
            <a:r>
              <a:rPr lang="en-IN" sz="2000"/>
              <a:t>2. </a:t>
            </a:r>
            <a:r>
              <a:rPr lang="en-US" sz="2000"/>
              <a:t>Media and analytical users require fast, accurate, and visually intuitive insights to support real-time election reporting and analysis.</a:t>
            </a:r>
            <a:endParaRPr lang="en-US" sz="2000" u="none" strike="noStrike">
              <a:latin typeface="Open Sauce"/>
              <a:ea typeface="Open Sauce"/>
              <a:cs typeface="Open Sauce"/>
              <a:sym typeface="Open Sauce"/>
            </a:endParaRPr>
          </a:p>
          <a:p>
            <a:pPr marL="0" indent="0">
              <a:buNone/>
            </a:pPr>
            <a:r>
              <a:rPr lang="en-IN" sz="2000"/>
              <a:t>3. </a:t>
            </a:r>
            <a:r>
              <a:rPr lang="en-US" sz="2000"/>
              <a:t>Infosys ElectViz is motivated by the need to simplify complex election data through interactive dashboards that enhance clarity, speed, and data-driven storytelling.</a:t>
            </a:r>
            <a:endParaRPr lang="en-US" sz="2000" u="none" strike="noStrike">
              <a:latin typeface="Open Sauce"/>
              <a:ea typeface="Open Sauce"/>
              <a:cs typeface="Open Sauce"/>
              <a:sym typeface="Open Sauce"/>
            </a:endParaRPr>
          </a:p>
          <a:p>
            <a:pPr marL="0" indent="0">
              <a:buNone/>
            </a:pPr>
            <a:endParaRPr lang="en-IN" sz="2000"/>
          </a:p>
        </p:txBody>
      </p:sp>
    </p:spTree>
    <p:extLst>
      <p:ext uri="{BB962C8B-B14F-4D97-AF65-F5344CB8AC3E}">
        <p14:creationId xmlns:p14="http://schemas.microsoft.com/office/powerpoint/2010/main" val="1086489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F456B92-80C9-453E-9D9D-EE4B11CD0F33}"/>
              </a:ext>
            </a:extLst>
          </p:cNvPr>
          <p:cNvSpPr>
            <a:spLocks noGrp="1"/>
          </p:cNvSpPr>
          <p:nvPr>
            <p:ph type="title"/>
          </p:nvPr>
        </p:nvSpPr>
        <p:spPr>
          <a:xfrm>
            <a:off x="838200" y="365125"/>
            <a:ext cx="10515600" cy="1325563"/>
          </a:xfrm>
        </p:spPr>
        <p:txBody>
          <a:bodyPr>
            <a:normAutofit/>
          </a:bodyPr>
          <a:lstStyle/>
          <a:p>
            <a:r>
              <a:rPr lang="en-IN" dirty="0"/>
              <a:t>Dataset Overview</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CE06A1C-7E77-D534-237F-A49250C3631A}"/>
              </a:ext>
            </a:extLst>
          </p:cNvPr>
          <p:cNvSpPr>
            <a:spLocks noGrp="1"/>
          </p:cNvSpPr>
          <p:nvPr>
            <p:ph idx="1"/>
          </p:nvPr>
        </p:nvSpPr>
        <p:spPr>
          <a:xfrm>
            <a:off x="838200" y="1825625"/>
            <a:ext cx="10515600" cy="4351338"/>
          </a:xfrm>
        </p:spPr>
        <p:txBody>
          <a:bodyPr>
            <a:normAutofit/>
          </a:bodyPr>
          <a:lstStyle/>
          <a:p>
            <a:pPr marL="0" indent="0">
              <a:buNone/>
            </a:pPr>
            <a:r>
              <a:rPr lang="en-US" sz="2600"/>
              <a:t>The Infosys </a:t>
            </a:r>
            <a:r>
              <a:rPr lang="en-US" sz="2600" err="1"/>
              <a:t>ElectViz</a:t>
            </a:r>
            <a:r>
              <a:rPr lang="en-US" sz="2600"/>
              <a:t> project uses multiple structured datasets sourced from the 2024 Indian General Election results. These datasets together capture voting details at constituency, state, party, and alliance levels, enabling comprehensive election analysis and visualization. </a:t>
            </a:r>
          </a:p>
          <a:p>
            <a:pPr marL="0" indent="0">
              <a:buNone/>
            </a:pPr>
            <a:r>
              <a:rPr lang="en-US" sz="2600" b="1"/>
              <a:t>1. ConstituencyWiseDetails.csv</a:t>
            </a:r>
          </a:p>
          <a:p>
            <a:r>
              <a:rPr lang="en-US" sz="2600"/>
              <a:t>This dataset contains detailed voting information for each candidate contesting in a constituency.</a:t>
            </a:r>
            <a:br>
              <a:rPr lang="en-US" sz="2600"/>
            </a:br>
            <a:r>
              <a:rPr lang="en-US" sz="2600" b="1"/>
              <a:t>Key Columns include:</a:t>
            </a:r>
            <a:br>
              <a:rPr lang="en-US" sz="2600"/>
            </a:br>
            <a:r>
              <a:rPr lang="en-US" sz="2600"/>
              <a:t>Constituency ID, Constituency Name, Candidate Name, Party, EVM Votes, Postal Votes, Total Votes, and Vote Share (%).</a:t>
            </a:r>
            <a:br>
              <a:rPr lang="en-US" sz="2600"/>
            </a:br>
            <a:endParaRPr lang="en-IN" sz="2600"/>
          </a:p>
        </p:txBody>
      </p:sp>
    </p:spTree>
    <p:extLst>
      <p:ext uri="{BB962C8B-B14F-4D97-AF65-F5344CB8AC3E}">
        <p14:creationId xmlns:p14="http://schemas.microsoft.com/office/powerpoint/2010/main" val="1721348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7CAB708-78B8-55C1-7FF3-4E27CF3FBD1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F99B49E-3F63-6116-D330-E9A91D4C695D}"/>
              </a:ext>
            </a:extLst>
          </p:cNvPr>
          <p:cNvSpPr>
            <a:spLocks noGrp="1"/>
          </p:cNvSpPr>
          <p:nvPr>
            <p:ph type="title"/>
          </p:nvPr>
        </p:nvSpPr>
        <p:spPr>
          <a:xfrm>
            <a:off x="838200" y="365125"/>
            <a:ext cx="10515600" cy="1325563"/>
          </a:xfrm>
        </p:spPr>
        <p:txBody>
          <a:bodyPr>
            <a:normAutofit/>
          </a:bodyPr>
          <a:lstStyle/>
          <a:p>
            <a:r>
              <a:rPr lang="en-IN" dirty="0"/>
              <a:t>Dataset Overview</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1D4B6D4-2641-4C5D-4CA3-0139028D3A7F}"/>
              </a:ext>
            </a:extLst>
          </p:cNvPr>
          <p:cNvSpPr>
            <a:spLocks noGrp="1"/>
          </p:cNvSpPr>
          <p:nvPr>
            <p:ph idx="1"/>
          </p:nvPr>
        </p:nvSpPr>
        <p:spPr>
          <a:xfrm>
            <a:off x="838200" y="1825625"/>
            <a:ext cx="10515600" cy="4351338"/>
          </a:xfrm>
        </p:spPr>
        <p:txBody>
          <a:bodyPr>
            <a:normAutofit/>
          </a:bodyPr>
          <a:lstStyle/>
          <a:p>
            <a:pPr marL="0" indent="0">
              <a:buNone/>
            </a:pPr>
            <a:r>
              <a:rPr lang="en-US" sz="2600" b="1"/>
              <a:t>2. ConstituencyWiseResults.csv</a:t>
            </a:r>
          </a:p>
          <a:p>
            <a:r>
              <a:rPr lang="en-US" sz="2600"/>
              <a:t>This dataset captures the final outcome of each constituency.</a:t>
            </a:r>
            <a:br>
              <a:rPr lang="en-US" sz="2600"/>
            </a:br>
            <a:r>
              <a:rPr lang="en-US" sz="2600" b="1"/>
              <a:t>Key Columns include:</a:t>
            </a:r>
            <a:br>
              <a:rPr lang="en-US" sz="2600"/>
            </a:br>
            <a:r>
              <a:rPr lang="en-US" sz="2600"/>
              <a:t>Constituency ID, Constituency Name, State, Winning Candidate, Winning Party, and Winning Margin.</a:t>
            </a:r>
          </a:p>
          <a:p>
            <a:pPr marL="0" indent="0">
              <a:buNone/>
            </a:pPr>
            <a:r>
              <a:rPr lang="en-IN" sz="2600" b="1"/>
              <a:t>3. PartyWiseResults.csv</a:t>
            </a:r>
          </a:p>
          <a:p>
            <a:r>
              <a:rPr lang="en-IN" sz="2600"/>
              <a:t>This dataset provides party-level performance across constituencies.</a:t>
            </a:r>
            <a:br>
              <a:rPr lang="en-IN" sz="2600"/>
            </a:br>
            <a:r>
              <a:rPr lang="en-IN" sz="2600" b="1"/>
              <a:t>Key Columns include:</a:t>
            </a:r>
            <a:br>
              <a:rPr lang="en-IN" sz="2600"/>
            </a:br>
            <a:r>
              <a:rPr lang="en-IN" sz="2600"/>
              <a:t>Party Name, Seats Won, and Alliance (derived using DAX logic).</a:t>
            </a:r>
            <a:br>
              <a:rPr lang="en-IN" sz="2600"/>
            </a:br>
            <a:endParaRPr lang="en-IN" sz="2600"/>
          </a:p>
        </p:txBody>
      </p:sp>
    </p:spTree>
    <p:extLst>
      <p:ext uri="{BB962C8B-B14F-4D97-AF65-F5344CB8AC3E}">
        <p14:creationId xmlns:p14="http://schemas.microsoft.com/office/powerpoint/2010/main" val="3388425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5C9ED4-28CC-9FBE-866E-1D579561AC5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9A028DF-166B-2715-3390-3CAD7E55405C}"/>
              </a:ext>
            </a:extLst>
          </p:cNvPr>
          <p:cNvSpPr>
            <a:spLocks noGrp="1"/>
          </p:cNvSpPr>
          <p:nvPr>
            <p:ph type="title"/>
          </p:nvPr>
        </p:nvSpPr>
        <p:spPr>
          <a:xfrm>
            <a:off x="838200" y="365125"/>
            <a:ext cx="10515600" cy="1325563"/>
          </a:xfrm>
        </p:spPr>
        <p:txBody>
          <a:bodyPr>
            <a:normAutofit/>
          </a:bodyPr>
          <a:lstStyle/>
          <a:p>
            <a:r>
              <a:rPr lang="en-IN" dirty="0"/>
              <a:t>Dataset Overview</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3057CA7-9C4F-ADFA-44A4-BAC10DAC6F2C}"/>
              </a:ext>
            </a:extLst>
          </p:cNvPr>
          <p:cNvSpPr>
            <a:spLocks noGrp="1"/>
          </p:cNvSpPr>
          <p:nvPr>
            <p:ph idx="1"/>
          </p:nvPr>
        </p:nvSpPr>
        <p:spPr>
          <a:xfrm>
            <a:off x="838200" y="1825625"/>
            <a:ext cx="10515600" cy="4351338"/>
          </a:xfrm>
        </p:spPr>
        <p:txBody>
          <a:bodyPr>
            <a:normAutofit/>
          </a:bodyPr>
          <a:lstStyle/>
          <a:p>
            <a:pPr marL="0" indent="0">
              <a:buNone/>
            </a:pPr>
            <a:r>
              <a:rPr lang="en-US" sz="2400" b="1"/>
              <a:t>4. StatewiseResults.csv</a:t>
            </a:r>
          </a:p>
          <a:p>
            <a:r>
              <a:rPr lang="en-US" sz="2400"/>
              <a:t>This dataset summarizes election outcomes at the state level.</a:t>
            </a:r>
            <a:br>
              <a:rPr lang="en-US" sz="2400"/>
            </a:br>
            <a:r>
              <a:rPr lang="en-US" sz="2400" b="1"/>
              <a:t>Key Columns include:</a:t>
            </a:r>
            <a:br>
              <a:rPr lang="en-US" sz="2400"/>
            </a:br>
            <a:r>
              <a:rPr lang="en-US" sz="2400"/>
              <a:t>State Name, Total Seats, Seats Won by NDA, Seats Won by I.N.D.I.A, and Majority Alliance.</a:t>
            </a:r>
          </a:p>
          <a:p>
            <a:pPr marL="0" indent="0">
              <a:buNone/>
            </a:pPr>
            <a:r>
              <a:rPr lang="en-US" sz="2400" b="1"/>
              <a:t>5. States.csv</a:t>
            </a:r>
          </a:p>
          <a:p>
            <a:r>
              <a:rPr lang="en-US" sz="2400"/>
              <a:t>This is a master reference dataset used for standardization and mapping.</a:t>
            </a:r>
            <a:br>
              <a:rPr lang="en-US" sz="2400"/>
            </a:br>
            <a:r>
              <a:rPr lang="en-US" sz="2400" b="1"/>
              <a:t>Key Columns include:</a:t>
            </a:r>
            <a:br>
              <a:rPr lang="en-US" sz="2400"/>
            </a:br>
            <a:r>
              <a:rPr lang="en-US" sz="2400"/>
              <a:t>State Code and State Name.</a:t>
            </a:r>
            <a:br>
              <a:rPr lang="en-US" sz="2400"/>
            </a:br>
            <a:br>
              <a:rPr lang="en-US" sz="2400"/>
            </a:br>
            <a:endParaRPr lang="en-IN" sz="2400"/>
          </a:p>
        </p:txBody>
      </p:sp>
    </p:spTree>
    <p:extLst>
      <p:ext uri="{BB962C8B-B14F-4D97-AF65-F5344CB8AC3E}">
        <p14:creationId xmlns:p14="http://schemas.microsoft.com/office/powerpoint/2010/main" val="668974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B3A42C-09C3-9F6D-B731-084812377131}"/>
              </a:ext>
            </a:extLst>
          </p:cNvPr>
          <p:cNvSpPr>
            <a:spLocks noGrp="1"/>
          </p:cNvSpPr>
          <p:nvPr>
            <p:ph type="title"/>
          </p:nvPr>
        </p:nvSpPr>
        <p:spPr>
          <a:xfrm>
            <a:off x="838200" y="365125"/>
            <a:ext cx="10515600" cy="1325563"/>
          </a:xfrm>
        </p:spPr>
        <p:txBody>
          <a:bodyPr>
            <a:normAutofit/>
          </a:bodyPr>
          <a:lstStyle/>
          <a:p>
            <a:r>
              <a:rPr lang="en-IN" sz="5400"/>
              <a:t>Data Modeling &amp; Architecture</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4DE3E62-4ACB-27B9-CB33-5C75865EE012}"/>
              </a:ext>
            </a:extLst>
          </p:cNvPr>
          <p:cNvSpPr>
            <a:spLocks noGrp="1"/>
          </p:cNvSpPr>
          <p:nvPr>
            <p:ph idx="1"/>
          </p:nvPr>
        </p:nvSpPr>
        <p:spPr>
          <a:xfrm>
            <a:off x="838200" y="1929384"/>
            <a:ext cx="10515600" cy="4251960"/>
          </a:xfrm>
        </p:spPr>
        <p:txBody>
          <a:bodyPr>
            <a:normAutofit/>
          </a:bodyPr>
          <a:lstStyle/>
          <a:p>
            <a:pPr marL="0" indent="0">
              <a:buNone/>
            </a:pPr>
            <a:r>
              <a:rPr lang="en-US" sz="2200" b="1"/>
              <a:t>Model Structure</a:t>
            </a:r>
          </a:p>
          <a:p>
            <a:pPr marL="0" indent="0">
              <a:buNone/>
            </a:pPr>
            <a:r>
              <a:rPr lang="en-US" sz="2200"/>
              <a:t>The Infosys ElectViz project follows a </a:t>
            </a:r>
            <a:r>
              <a:rPr lang="en-US" sz="2200" b="1"/>
              <a:t>star schema–based analytical model</a:t>
            </a:r>
            <a:r>
              <a:rPr lang="en-US" sz="2200"/>
              <a:t>, where detailed election data is stored in central fact tables and supporting reference information is maintained in dimension tables. All tables are connected using unique identifiers such as Constituency ID, Party ID, and State ID to ensure accurate filtering and aggregation across dashboards.</a:t>
            </a:r>
          </a:p>
          <a:p>
            <a:pPr marL="0" indent="0">
              <a:buNone/>
            </a:pPr>
            <a:r>
              <a:rPr lang="en-US" sz="2200" b="1"/>
              <a:t>Why This Structure Is Used</a:t>
            </a:r>
          </a:p>
          <a:p>
            <a:pPr marL="0" indent="0">
              <a:buNone/>
            </a:pPr>
            <a:r>
              <a:rPr lang="en-US" sz="2200"/>
              <a:t>This structure is used to improve </a:t>
            </a:r>
            <a:r>
              <a:rPr lang="en-US" sz="2200" b="1"/>
              <a:t>performance, simplicity, and scalability</a:t>
            </a:r>
            <a:r>
              <a:rPr lang="en-US" sz="2200"/>
              <a:t> in Power BI. Separating transactional data from descriptive data reduces redundancy, simplifies DAX calculations, and enables faster cross-filtering and drill-down analysis across national, state, and constituency levels.</a:t>
            </a:r>
          </a:p>
          <a:p>
            <a:pPr marL="0" indent="0">
              <a:buNone/>
            </a:pPr>
            <a:endParaRPr lang="en-US" sz="2200"/>
          </a:p>
          <a:p>
            <a:pPr marL="0" indent="0">
              <a:buNone/>
            </a:pPr>
            <a:endParaRPr lang="en-IN" sz="2200"/>
          </a:p>
        </p:txBody>
      </p:sp>
    </p:spTree>
    <p:extLst>
      <p:ext uri="{BB962C8B-B14F-4D97-AF65-F5344CB8AC3E}">
        <p14:creationId xmlns:p14="http://schemas.microsoft.com/office/powerpoint/2010/main" val="3656456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B1ECA1-3D67-1C80-BFD3-0326E8296D1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00E963-7BE0-4B89-313A-732625E366B3}"/>
              </a:ext>
            </a:extLst>
          </p:cNvPr>
          <p:cNvSpPr>
            <a:spLocks noGrp="1"/>
          </p:cNvSpPr>
          <p:nvPr>
            <p:ph type="title"/>
          </p:nvPr>
        </p:nvSpPr>
        <p:spPr>
          <a:xfrm>
            <a:off x="838200" y="365125"/>
            <a:ext cx="10515600" cy="1325563"/>
          </a:xfrm>
        </p:spPr>
        <p:txBody>
          <a:bodyPr>
            <a:normAutofit/>
          </a:bodyPr>
          <a:lstStyle/>
          <a:p>
            <a:r>
              <a:rPr lang="en-IN" sz="5400"/>
              <a:t>Data Modeling &amp; Architecture</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073A31E-8A80-656D-AA4A-4DAB1F3EA253}"/>
              </a:ext>
            </a:extLst>
          </p:cNvPr>
          <p:cNvSpPr>
            <a:spLocks noGrp="1"/>
          </p:cNvSpPr>
          <p:nvPr>
            <p:ph idx="1"/>
          </p:nvPr>
        </p:nvSpPr>
        <p:spPr>
          <a:xfrm>
            <a:off x="838200" y="1929384"/>
            <a:ext cx="10515600" cy="4251960"/>
          </a:xfrm>
        </p:spPr>
        <p:txBody>
          <a:bodyPr>
            <a:normAutofit fontScale="92500" lnSpcReduction="10000"/>
          </a:bodyPr>
          <a:lstStyle/>
          <a:p>
            <a:pPr marL="0" indent="0">
              <a:buNone/>
            </a:pPr>
            <a:r>
              <a:rPr lang="en-US" sz="2200" b="1" dirty="0"/>
              <a:t>Fact Tables</a:t>
            </a:r>
          </a:p>
          <a:p>
            <a:pPr marL="0" indent="0">
              <a:buNone/>
            </a:pPr>
            <a:r>
              <a:rPr lang="en-US" sz="2200" dirty="0"/>
              <a:t>Fact tables store the </a:t>
            </a:r>
            <a:r>
              <a:rPr lang="en-US" sz="2200" b="1" dirty="0"/>
              <a:t>core election metrics</a:t>
            </a:r>
            <a:r>
              <a:rPr lang="en-US" sz="2200" dirty="0"/>
              <a:t> required for analysis.</a:t>
            </a:r>
          </a:p>
          <a:p>
            <a:r>
              <a:rPr lang="en-US" sz="2200" b="1" dirty="0" err="1"/>
              <a:t>ConstituencyWiseDetails</a:t>
            </a:r>
            <a:r>
              <a:rPr lang="en-US" sz="2200" dirty="0"/>
              <a:t> contains candidate-level voting data including EVM votes, postal votes, total votes, and vote share, forming the base for candidate comparison and ranking.</a:t>
            </a:r>
          </a:p>
          <a:p>
            <a:r>
              <a:rPr lang="en-US" sz="2200" b="1" dirty="0" err="1"/>
              <a:t>ConstituencyWiseResults</a:t>
            </a:r>
            <a:r>
              <a:rPr lang="en-US" sz="2200" dirty="0"/>
              <a:t> stores final constituency outcomes such as winning candidate, winning party, and margin, supporting seat aggregation and result analysis</a:t>
            </a:r>
          </a:p>
          <a:p>
            <a:pPr marL="0" indent="0">
              <a:buNone/>
            </a:pPr>
            <a:r>
              <a:rPr lang="en-IN" sz="2200" b="1" dirty="0"/>
              <a:t>Dimension Tables</a:t>
            </a:r>
          </a:p>
          <a:p>
            <a:pPr marL="0" indent="0">
              <a:buNone/>
            </a:pPr>
            <a:r>
              <a:rPr lang="en-IN" sz="2200" dirty="0"/>
              <a:t>Dimension tables provide </a:t>
            </a:r>
            <a:r>
              <a:rPr lang="en-IN" sz="2200" b="1" dirty="0"/>
              <a:t>contextual information</a:t>
            </a:r>
            <a:r>
              <a:rPr lang="en-IN" sz="2200" dirty="0"/>
              <a:t> used for filtering and grouping.</a:t>
            </a:r>
          </a:p>
          <a:p>
            <a:r>
              <a:rPr lang="en-IN" sz="2200" b="1" dirty="0" err="1"/>
              <a:t>PartyWiseResults</a:t>
            </a:r>
            <a:r>
              <a:rPr lang="en-IN" sz="2200" dirty="0"/>
              <a:t> maps political parties to their respective alliances, enabling alliance-wise analysis.</a:t>
            </a:r>
          </a:p>
          <a:p>
            <a:r>
              <a:rPr lang="en-IN" sz="2200" b="1" dirty="0"/>
              <a:t>States</a:t>
            </a:r>
            <a:r>
              <a:rPr lang="en-IN" sz="2200" dirty="0"/>
              <a:t> contains standardized state identifiers and names, supporting state-level filtering and geographic visualization.</a:t>
            </a:r>
          </a:p>
          <a:p>
            <a:pPr marL="0" indent="0">
              <a:buNone/>
            </a:pPr>
            <a:endParaRPr lang="en-IN" sz="2200" dirty="0"/>
          </a:p>
          <a:p>
            <a:pPr marL="0" indent="0">
              <a:buNone/>
            </a:pPr>
            <a:endParaRPr lang="en-US" sz="2200" dirty="0"/>
          </a:p>
          <a:p>
            <a:pPr marL="0" indent="0">
              <a:buNone/>
            </a:pPr>
            <a:endParaRPr lang="en-IN" sz="2200" dirty="0"/>
          </a:p>
        </p:txBody>
      </p:sp>
    </p:spTree>
    <p:extLst>
      <p:ext uri="{BB962C8B-B14F-4D97-AF65-F5344CB8AC3E}">
        <p14:creationId xmlns:p14="http://schemas.microsoft.com/office/powerpoint/2010/main" val="1563159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62025B-65BC-9E79-AB85-6B5D941E7502}"/>
              </a:ext>
            </a:extLst>
          </p:cNvPr>
          <p:cNvSpPr>
            <a:spLocks noGrp="1"/>
          </p:cNvSpPr>
          <p:nvPr>
            <p:ph type="title"/>
          </p:nvPr>
        </p:nvSpPr>
        <p:spPr>
          <a:xfrm>
            <a:off x="686834" y="1153572"/>
            <a:ext cx="3200400" cy="4461163"/>
          </a:xfrm>
        </p:spPr>
        <p:txBody>
          <a:bodyPr>
            <a:normAutofit/>
          </a:bodyPr>
          <a:lstStyle/>
          <a:p>
            <a:r>
              <a:rPr lang="en-IN">
                <a:solidFill>
                  <a:srgbClr val="FFFFFF"/>
                </a:solidFill>
              </a:rPr>
              <a:t>DAX Measures &amp; Business Logic</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292527B-4D7A-20D8-9ADF-786B69EBDDAC}"/>
              </a:ext>
            </a:extLst>
          </p:cNvPr>
          <p:cNvSpPr>
            <a:spLocks noGrp="1"/>
          </p:cNvSpPr>
          <p:nvPr>
            <p:ph idx="1"/>
          </p:nvPr>
        </p:nvSpPr>
        <p:spPr>
          <a:xfrm>
            <a:off x="4447308" y="591344"/>
            <a:ext cx="6906491" cy="5585619"/>
          </a:xfrm>
        </p:spPr>
        <p:txBody>
          <a:bodyPr anchor="ctr">
            <a:normAutofit/>
          </a:bodyPr>
          <a:lstStyle/>
          <a:p>
            <a:pPr marL="0" indent="0">
              <a:buNone/>
            </a:pPr>
            <a:r>
              <a:rPr lang="en-US" sz="2600" b="1"/>
              <a:t>Purpose of DAX in the Project</a:t>
            </a:r>
          </a:p>
          <a:p>
            <a:r>
              <a:rPr lang="en-US" sz="2600"/>
              <a:t>DAX (Data Analysis Expressions) is used in Infosys </a:t>
            </a:r>
            <a:r>
              <a:rPr lang="en-US" sz="2600" err="1"/>
              <a:t>ElectViz</a:t>
            </a:r>
            <a:r>
              <a:rPr lang="en-US" sz="2600"/>
              <a:t> to derive dynamic insights that are not directly available in the raw datasets. Since election analysis requires calculations such as winning candidates, alliance classification, vote share percentages, and ranking of candidates, DAX plays a critical role in transforming stored data into meaningful analytical outputs.</a:t>
            </a:r>
          </a:p>
          <a:p>
            <a:pPr marL="0" indent="0">
              <a:buNone/>
            </a:pPr>
            <a:endParaRPr lang="en-IN" sz="2600"/>
          </a:p>
          <a:p>
            <a:pPr marL="0" indent="0">
              <a:buNone/>
            </a:pPr>
            <a:r>
              <a:rPr lang="en-IN" sz="2600"/>
              <a:t>(There are like 15 </a:t>
            </a:r>
            <a:r>
              <a:rPr lang="en-IN" sz="2600" err="1"/>
              <a:t>dax</a:t>
            </a:r>
            <a:r>
              <a:rPr lang="en-IN" sz="2600"/>
              <a:t> formulas used but only important formulas are shown here)</a:t>
            </a:r>
          </a:p>
          <a:p>
            <a:pPr marL="0" indent="0">
              <a:buNone/>
            </a:pPr>
            <a:endParaRPr lang="en-IN" sz="2600"/>
          </a:p>
        </p:txBody>
      </p:sp>
    </p:spTree>
    <p:extLst>
      <p:ext uri="{BB962C8B-B14F-4D97-AF65-F5344CB8AC3E}">
        <p14:creationId xmlns:p14="http://schemas.microsoft.com/office/powerpoint/2010/main" val="4227697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66A513-9A05-E50F-3524-2EEC201C217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D25B46-66FA-774B-11DE-650A4B0444BC}"/>
              </a:ext>
            </a:extLst>
          </p:cNvPr>
          <p:cNvSpPr>
            <a:spLocks noGrp="1"/>
          </p:cNvSpPr>
          <p:nvPr>
            <p:ph type="title"/>
          </p:nvPr>
        </p:nvSpPr>
        <p:spPr>
          <a:xfrm>
            <a:off x="841248" y="548640"/>
            <a:ext cx="3600860" cy="5431536"/>
          </a:xfrm>
        </p:spPr>
        <p:txBody>
          <a:bodyPr>
            <a:normAutofit/>
          </a:bodyPr>
          <a:lstStyle/>
          <a:p>
            <a:r>
              <a:rPr lang="en-IN" sz="5400"/>
              <a:t>DAX Measures &amp; Business Logic</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4148775-4EB5-8A82-7B50-C2E24971227A}"/>
              </a:ext>
            </a:extLst>
          </p:cNvPr>
          <p:cNvSpPr>
            <a:spLocks noGrp="1"/>
          </p:cNvSpPr>
          <p:nvPr>
            <p:ph idx="1"/>
          </p:nvPr>
        </p:nvSpPr>
        <p:spPr>
          <a:xfrm>
            <a:off x="5203362" y="1272853"/>
            <a:ext cx="6224335" cy="5431536"/>
          </a:xfrm>
        </p:spPr>
        <p:txBody>
          <a:bodyPr anchor="ctr">
            <a:normAutofit lnSpcReduction="10000"/>
          </a:bodyPr>
          <a:lstStyle/>
          <a:p>
            <a:pPr marL="0" indent="0">
              <a:buNone/>
            </a:pPr>
            <a:r>
              <a:rPr lang="en-IN" sz="1500" dirty="0"/>
              <a:t>1. Selected State Name = </a:t>
            </a:r>
          </a:p>
          <a:p>
            <a:pPr marL="0" indent="0">
              <a:buNone/>
            </a:pPr>
            <a:r>
              <a:rPr lang="en-IN" sz="1500" dirty="0"/>
              <a:t>CALCULATE(</a:t>
            </a:r>
          </a:p>
          <a:p>
            <a:pPr marL="0" indent="0">
              <a:buNone/>
            </a:pPr>
            <a:r>
              <a:rPr lang="en-IN" sz="1500" dirty="0"/>
              <a:t>    SELECTEDVALUE(states[State], "No State Selected"),</a:t>
            </a:r>
          </a:p>
          <a:p>
            <a:pPr marL="0" indent="0">
              <a:buNone/>
            </a:pPr>
            <a:r>
              <a:rPr lang="en-IN" sz="1500" dirty="0"/>
              <a:t>    FILTER(</a:t>
            </a:r>
          </a:p>
          <a:p>
            <a:pPr marL="0" indent="0">
              <a:buNone/>
            </a:pPr>
            <a:r>
              <a:rPr lang="en-IN" sz="1500" dirty="0"/>
              <a:t>        </a:t>
            </a:r>
            <a:r>
              <a:rPr lang="en-IN" sz="1500" dirty="0" err="1"/>
              <a:t>ConstituencyWiseResults</a:t>
            </a:r>
            <a:r>
              <a:rPr lang="en-IN" sz="1500" dirty="0"/>
              <a:t>,</a:t>
            </a:r>
          </a:p>
          <a:p>
            <a:pPr marL="0" indent="0">
              <a:buNone/>
            </a:pPr>
            <a:r>
              <a:rPr lang="en-IN" sz="1500" dirty="0"/>
              <a:t>        </a:t>
            </a:r>
            <a:r>
              <a:rPr lang="en-IN" sz="1500" dirty="0" err="1"/>
              <a:t>ConstituencyWiseResults</a:t>
            </a:r>
            <a:r>
              <a:rPr lang="en-IN" sz="1500" dirty="0"/>
              <a:t>[Constituency ID] = MAX(</a:t>
            </a:r>
            <a:r>
              <a:rPr lang="en-IN" sz="1500" dirty="0" err="1"/>
              <a:t>ConstituencyWiseDetails</a:t>
            </a:r>
            <a:r>
              <a:rPr lang="en-IN" sz="1500" dirty="0"/>
              <a:t>[Constituency ID])</a:t>
            </a:r>
          </a:p>
          <a:p>
            <a:pPr marL="0" indent="0">
              <a:buNone/>
            </a:pPr>
            <a:r>
              <a:rPr lang="en-IN" sz="1500" dirty="0"/>
              <a:t>    )</a:t>
            </a:r>
          </a:p>
          <a:p>
            <a:pPr marL="0" indent="0">
              <a:buNone/>
            </a:pPr>
            <a:r>
              <a:rPr lang="en-IN" sz="1500" dirty="0"/>
              <a:t>)</a:t>
            </a:r>
          </a:p>
          <a:p>
            <a:pPr marL="0" indent="0">
              <a:buNone/>
            </a:pPr>
            <a:endParaRPr lang="en-IN" sz="1500" dirty="0"/>
          </a:p>
          <a:p>
            <a:pPr marL="0" indent="0">
              <a:buNone/>
            </a:pPr>
            <a:r>
              <a:rPr lang="en-IN" sz="1500" dirty="0"/>
              <a:t>2. Winning Candidate = </a:t>
            </a:r>
          </a:p>
          <a:p>
            <a:pPr marL="0" indent="0">
              <a:buNone/>
            </a:pPr>
            <a:r>
              <a:rPr lang="en-IN" sz="1500" dirty="0"/>
              <a:t>VAR </a:t>
            </a:r>
            <a:r>
              <a:rPr lang="en-IN" sz="1500" dirty="0" err="1"/>
              <a:t>MaxVotes</a:t>
            </a:r>
            <a:r>
              <a:rPr lang="en-IN" sz="1500" dirty="0"/>
              <a:t> = MAX('</a:t>
            </a:r>
            <a:r>
              <a:rPr lang="en-IN" sz="1500" dirty="0" err="1"/>
              <a:t>ConstituencyWiseDetails</a:t>
            </a:r>
            <a:r>
              <a:rPr lang="en-IN" sz="1500" dirty="0"/>
              <a:t>'[Total Votes])</a:t>
            </a:r>
          </a:p>
          <a:p>
            <a:pPr marL="0" indent="0">
              <a:buNone/>
            </a:pPr>
            <a:r>
              <a:rPr lang="en-IN" sz="1500" dirty="0"/>
              <a:t>RETURN</a:t>
            </a:r>
          </a:p>
          <a:p>
            <a:pPr marL="0" indent="0">
              <a:buNone/>
            </a:pPr>
            <a:r>
              <a:rPr lang="en-IN" sz="1500" dirty="0"/>
              <a:t>    CALCULATE(</a:t>
            </a:r>
          </a:p>
          <a:p>
            <a:pPr marL="0" indent="0">
              <a:buNone/>
            </a:pPr>
            <a:r>
              <a:rPr lang="en-IN" sz="1500" dirty="0"/>
              <a:t>        MAX('</a:t>
            </a:r>
            <a:r>
              <a:rPr lang="en-IN" sz="1500" dirty="0" err="1"/>
              <a:t>ConstituencyWiseDetails</a:t>
            </a:r>
            <a:r>
              <a:rPr lang="en-IN" sz="1500" dirty="0"/>
              <a:t>'[Candidate]),</a:t>
            </a:r>
          </a:p>
          <a:p>
            <a:pPr marL="0" indent="0">
              <a:buNone/>
            </a:pPr>
            <a:r>
              <a:rPr lang="en-IN" sz="1500" dirty="0"/>
              <a:t>        '</a:t>
            </a:r>
            <a:r>
              <a:rPr lang="en-IN" sz="1500" dirty="0" err="1"/>
              <a:t>ConstituencyWiseDetails</a:t>
            </a:r>
            <a:r>
              <a:rPr lang="en-IN" sz="1500" dirty="0"/>
              <a:t>'[Total Votes] = </a:t>
            </a:r>
            <a:r>
              <a:rPr lang="en-IN" sz="1500" dirty="0" err="1"/>
              <a:t>MaxVotes</a:t>
            </a:r>
            <a:endParaRPr lang="en-IN" sz="1500" dirty="0"/>
          </a:p>
          <a:p>
            <a:pPr marL="0" indent="0">
              <a:buNone/>
            </a:pPr>
            <a:r>
              <a:rPr lang="en-IN" sz="1500" dirty="0"/>
              <a:t>    )</a:t>
            </a:r>
          </a:p>
          <a:p>
            <a:pPr marL="0" indent="0">
              <a:buNone/>
            </a:pPr>
            <a:endParaRPr lang="en-IN" sz="1500" dirty="0"/>
          </a:p>
          <a:p>
            <a:pPr marL="0" indent="0">
              <a:buNone/>
            </a:pPr>
            <a:endParaRPr lang="en-IN" sz="1500" dirty="0"/>
          </a:p>
          <a:p>
            <a:pPr marL="0" indent="0">
              <a:buNone/>
            </a:pPr>
            <a:endParaRPr lang="en-IN" sz="1500" dirty="0"/>
          </a:p>
          <a:p>
            <a:pPr marL="0" indent="0">
              <a:buNone/>
            </a:pPr>
            <a:endParaRPr lang="en-IN" sz="1500" dirty="0"/>
          </a:p>
        </p:txBody>
      </p:sp>
    </p:spTree>
    <p:extLst>
      <p:ext uri="{BB962C8B-B14F-4D97-AF65-F5344CB8AC3E}">
        <p14:creationId xmlns:p14="http://schemas.microsoft.com/office/powerpoint/2010/main" val="14940782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8544BF-119E-4D31-62EB-F0BE8639424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A3E4B3-14E4-0CF9-086B-D72E5B3D1C24}"/>
              </a:ext>
            </a:extLst>
          </p:cNvPr>
          <p:cNvSpPr>
            <a:spLocks noGrp="1"/>
          </p:cNvSpPr>
          <p:nvPr>
            <p:ph type="title"/>
          </p:nvPr>
        </p:nvSpPr>
        <p:spPr>
          <a:xfrm>
            <a:off x="841248" y="548640"/>
            <a:ext cx="3600860" cy="5431536"/>
          </a:xfrm>
        </p:spPr>
        <p:txBody>
          <a:bodyPr>
            <a:normAutofit/>
          </a:bodyPr>
          <a:lstStyle/>
          <a:p>
            <a:r>
              <a:rPr lang="en-IN" sz="5400"/>
              <a:t>DAX Measures &amp; Business Logic</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8CD0788-17DA-0B7A-E27F-6A77258C9BE0}"/>
              </a:ext>
            </a:extLst>
          </p:cNvPr>
          <p:cNvSpPr>
            <a:spLocks noGrp="1"/>
          </p:cNvSpPr>
          <p:nvPr>
            <p:ph idx="1"/>
          </p:nvPr>
        </p:nvSpPr>
        <p:spPr>
          <a:xfrm>
            <a:off x="5126418" y="853305"/>
            <a:ext cx="6224335" cy="5431536"/>
          </a:xfrm>
        </p:spPr>
        <p:txBody>
          <a:bodyPr anchor="ctr">
            <a:normAutofit fontScale="92500" lnSpcReduction="10000"/>
          </a:bodyPr>
          <a:lstStyle/>
          <a:p>
            <a:pPr marL="0" indent="0">
              <a:buNone/>
            </a:pPr>
            <a:r>
              <a:rPr lang="en-IN" sz="2000" dirty="0"/>
              <a:t>3. Winning Party Name = </a:t>
            </a:r>
          </a:p>
          <a:p>
            <a:pPr marL="0" indent="0">
              <a:buNone/>
            </a:pPr>
            <a:r>
              <a:rPr lang="en-IN" sz="2000" dirty="0"/>
              <a:t>VAR </a:t>
            </a:r>
            <a:r>
              <a:rPr lang="en-IN" sz="2000" dirty="0" err="1"/>
              <a:t>MaxVotes</a:t>
            </a:r>
            <a:r>
              <a:rPr lang="en-IN" sz="2000" dirty="0"/>
              <a:t> = MAX('</a:t>
            </a:r>
            <a:r>
              <a:rPr lang="en-IN" sz="2000" dirty="0" err="1"/>
              <a:t>ConstituencyWiseDetails</a:t>
            </a:r>
            <a:r>
              <a:rPr lang="en-IN" sz="2000" dirty="0"/>
              <a:t>'[Total Votes])</a:t>
            </a:r>
          </a:p>
          <a:p>
            <a:pPr marL="0" indent="0">
              <a:buNone/>
            </a:pPr>
            <a:r>
              <a:rPr lang="en-IN" sz="2000" dirty="0"/>
              <a:t>RETURN</a:t>
            </a:r>
          </a:p>
          <a:p>
            <a:pPr marL="0" indent="0">
              <a:buNone/>
            </a:pPr>
            <a:r>
              <a:rPr lang="en-IN" sz="2000" dirty="0"/>
              <a:t>    CALCULATE(</a:t>
            </a:r>
          </a:p>
          <a:p>
            <a:pPr marL="0" indent="0">
              <a:buNone/>
            </a:pPr>
            <a:r>
              <a:rPr lang="en-IN" sz="2000" dirty="0"/>
              <a:t>        MAX('</a:t>
            </a:r>
            <a:r>
              <a:rPr lang="en-IN" sz="2000" dirty="0" err="1"/>
              <a:t>ConstituencyWiseDetails</a:t>
            </a:r>
            <a:r>
              <a:rPr lang="en-IN" sz="2000" dirty="0"/>
              <a:t>'[Party]),</a:t>
            </a:r>
          </a:p>
          <a:p>
            <a:pPr marL="0" indent="0">
              <a:buNone/>
            </a:pPr>
            <a:r>
              <a:rPr lang="en-IN" sz="2000" dirty="0"/>
              <a:t>        '</a:t>
            </a:r>
            <a:r>
              <a:rPr lang="en-IN" sz="2000" dirty="0" err="1"/>
              <a:t>ConstituencyWiseDetails</a:t>
            </a:r>
            <a:r>
              <a:rPr lang="en-IN" sz="2000" dirty="0"/>
              <a:t>'[Total Votes] = </a:t>
            </a:r>
            <a:r>
              <a:rPr lang="en-IN" sz="2000" dirty="0" err="1"/>
              <a:t>MaxVotes</a:t>
            </a:r>
            <a:endParaRPr lang="en-IN" sz="2000" dirty="0"/>
          </a:p>
          <a:p>
            <a:pPr marL="0" indent="0">
              <a:buNone/>
            </a:pPr>
            <a:r>
              <a:rPr lang="en-IN" sz="2000" dirty="0"/>
              <a:t>    )</a:t>
            </a:r>
          </a:p>
          <a:p>
            <a:pPr marL="0" indent="0">
              <a:buNone/>
            </a:pPr>
            <a:endParaRPr lang="en-IN" sz="2000" dirty="0"/>
          </a:p>
          <a:p>
            <a:pPr marL="0" indent="0">
              <a:buNone/>
            </a:pPr>
            <a:r>
              <a:rPr lang="en-IN" sz="2000" dirty="0"/>
              <a:t>4. </a:t>
            </a:r>
            <a:r>
              <a:rPr lang="en-US" sz="2000" dirty="0"/>
              <a:t>Winning Candidate Total Votes = </a:t>
            </a:r>
          </a:p>
          <a:p>
            <a:pPr marL="0" indent="0">
              <a:buNone/>
            </a:pPr>
            <a:r>
              <a:rPr lang="en-US" sz="2000" dirty="0"/>
              <a:t>"Total Votes:" &amp; " " &amp; MAX('</a:t>
            </a:r>
            <a:r>
              <a:rPr lang="en-US" sz="2000" dirty="0" err="1"/>
              <a:t>ConstituencyWiseDetails</a:t>
            </a:r>
            <a:r>
              <a:rPr lang="en-US" sz="2000" dirty="0"/>
              <a:t>'[Total Votes])</a:t>
            </a:r>
          </a:p>
          <a:p>
            <a:pPr marL="0" indent="0">
              <a:buNone/>
            </a:pPr>
            <a:endParaRPr lang="en-US" sz="2000" dirty="0"/>
          </a:p>
          <a:p>
            <a:pPr marL="0" indent="0">
              <a:buNone/>
            </a:pPr>
            <a:r>
              <a:rPr lang="en-US" sz="2000" dirty="0"/>
              <a:t>5. Winning Candidate Vote Share % = </a:t>
            </a:r>
          </a:p>
          <a:p>
            <a:pPr marL="0" indent="0">
              <a:buNone/>
            </a:pPr>
            <a:r>
              <a:rPr lang="en-US" sz="2000" dirty="0"/>
              <a:t>"Vote Share:" &amp; " " &amp; MAX('</a:t>
            </a:r>
            <a:r>
              <a:rPr lang="en-US" sz="2000" dirty="0" err="1"/>
              <a:t>ConstituencyWiseDetails</a:t>
            </a:r>
            <a:r>
              <a:rPr lang="en-US" sz="2000" dirty="0"/>
              <a:t>'[% of Votes]) &amp; " %"</a:t>
            </a:r>
          </a:p>
          <a:p>
            <a:pPr marL="0" indent="0">
              <a:buNone/>
            </a:pPr>
            <a:endParaRPr lang="en-US" sz="2000" dirty="0"/>
          </a:p>
          <a:p>
            <a:pPr marL="0" indent="0">
              <a:buNone/>
            </a:pPr>
            <a:endParaRPr lang="en-US" sz="2000" dirty="0"/>
          </a:p>
        </p:txBody>
      </p:sp>
    </p:spTree>
    <p:extLst>
      <p:ext uri="{BB962C8B-B14F-4D97-AF65-F5344CB8AC3E}">
        <p14:creationId xmlns:p14="http://schemas.microsoft.com/office/powerpoint/2010/main" val="3958015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865C66-EF3B-FA4B-043E-791F022762F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354959-BD54-E36D-0A1F-70A00BED009E}"/>
              </a:ext>
            </a:extLst>
          </p:cNvPr>
          <p:cNvSpPr>
            <a:spLocks noGrp="1"/>
          </p:cNvSpPr>
          <p:nvPr>
            <p:ph type="title"/>
          </p:nvPr>
        </p:nvSpPr>
        <p:spPr>
          <a:xfrm>
            <a:off x="841248" y="548640"/>
            <a:ext cx="3600860" cy="5431536"/>
          </a:xfrm>
        </p:spPr>
        <p:txBody>
          <a:bodyPr>
            <a:normAutofit/>
          </a:bodyPr>
          <a:lstStyle/>
          <a:p>
            <a:r>
              <a:rPr lang="en-IN" sz="5400"/>
              <a:t>DAX Measures &amp; Business Logic</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98B4D39-2306-3267-0B46-C94B785A29EF}"/>
              </a:ext>
            </a:extLst>
          </p:cNvPr>
          <p:cNvSpPr>
            <a:spLocks noGrp="1"/>
          </p:cNvSpPr>
          <p:nvPr>
            <p:ph idx="1"/>
          </p:nvPr>
        </p:nvSpPr>
        <p:spPr>
          <a:xfrm>
            <a:off x="5126418" y="552091"/>
            <a:ext cx="6224335" cy="5431536"/>
          </a:xfrm>
        </p:spPr>
        <p:txBody>
          <a:bodyPr anchor="ctr">
            <a:normAutofit/>
          </a:bodyPr>
          <a:lstStyle/>
          <a:p>
            <a:pPr marL="0" indent="0">
              <a:buNone/>
            </a:pPr>
            <a:r>
              <a:rPr lang="en-US" sz="1700"/>
              <a:t>6. Runner Up Winning Candidate = </a:t>
            </a:r>
          </a:p>
          <a:p>
            <a:pPr marL="0" indent="0">
              <a:buNone/>
            </a:pPr>
            <a:r>
              <a:rPr lang="en-US" sz="1700"/>
              <a:t>VAR MaxVotes = MAX('ConstituencyWiseDetails'[Total Votes]) </a:t>
            </a:r>
          </a:p>
          <a:p>
            <a:pPr marL="0" indent="0">
              <a:buNone/>
            </a:pPr>
            <a:r>
              <a:rPr lang="en-US" sz="1700"/>
              <a:t>VAR SecondMaxVotes = </a:t>
            </a:r>
          </a:p>
          <a:p>
            <a:pPr marL="0" indent="0">
              <a:buNone/>
            </a:pPr>
            <a:r>
              <a:rPr lang="en-US" sz="1700"/>
              <a:t>    MAXX(</a:t>
            </a:r>
          </a:p>
          <a:p>
            <a:pPr marL="0" indent="0">
              <a:buNone/>
            </a:pPr>
            <a:r>
              <a:rPr lang="en-US" sz="1700"/>
              <a:t>        FILTER(</a:t>
            </a:r>
          </a:p>
          <a:p>
            <a:pPr marL="0" indent="0">
              <a:buNone/>
            </a:pPr>
            <a:r>
              <a:rPr lang="en-US" sz="1700"/>
              <a:t>            'ConstituencyWiseDetails',</a:t>
            </a:r>
          </a:p>
          <a:p>
            <a:pPr marL="0" indent="0">
              <a:buNone/>
            </a:pPr>
            <a:r>
              <a:rPr lang="en-US" sz="1700"/>
              <a:t>            'ConstituencyWiseDetails'[Total Votes] &lt; MaxVotes</a:t>
            </a:r>
          </a:p>
          <a:p>
            <a:pPr marL="0" indent="0">
              <a:buNone/>
            </a:pPr>
            <a:r>
              <a:rPr lang="en-US" sz="1700"/>
              <a:t>        ),</a:t>
            </a:r>
          </a:p>
          <a:p>
            <a:pPr marL="0" indent="0">
              <a:buNone/>
            </a:pPr>
            <a:r>
              <a:rPr lang="en-US" sz="1700"/>
              <a:t>        'ConstituencyWiseDetails'[Total Votes]</a:t>
            </a:r>
          </a:p>
          <a:p>
            <a:pPr marL="0" indent="0">
              <a:buNone/>
            </a:pPr>
            <a:r>
              <a:rPr lang="en-US" sz="1700"/>
              <a:t>    )</a:t>
            </a:r>
          </a:p>
          <a:p>
            <a:pPr marL="0" indent="0">
              <a:buNone/>
            </a:pPr>
            <a:r>
              <a:rPr lang="en-US" sz="1700"/>
              <a:t>RETURN</a:t>
            </a:r>
          </a:p>
          <a:p>
            <a:pPr marL="0" indent="0">
              <a:buNone/>
            </a:pPr>
            <a:r>
              <a:rPr lang="en-US" sz="1700"/>
              <a:t>    CALCULATE(</a:t>
            </a:r>
          </a:p>
          <a:p>
            <a:pPr marL="0" indent="0">
              <a:buNone/>
            </a:pPr>
            <a:r>
              <a:rPr lang="en-US" sz="1700"/>
              <a:t>        MAX('ConstituencyWiseDetails'[Candidate]),</a:t>
            </a:r>
          </a:p>
          <a:p>
            <a:pPr marL="0" indent="0">
              <a:buNone/>
            </a:pPr>
            <a:r>
              <a:rPr lang="en-US" sz="1700"/>
              <a:t>        'ConstituencyWiseDetails'[Total Votes] = SecondMaxVotes</a:t>
            </a:r>
          </a:p>
          <a:p>
            <a:pPr marL="0" indent="0">
              <a:buNone/>
            </a:pPr>
            <a:r>
              <a:rPr lang="en-US" sz="1700"/>
              <a:t>    )</a:t>
            </a:r>
          </a:p>
        </p:txBody>
      </p:sp>
    </p:spTree>
    <p:extLst>
      <p:ext uri="{BB962C8B-B14F-4D97-AF65-F5344CB8AC3E}">
        <p14:creationId xmlns:p14="http://schemas.microsoft.com/office/powerpoint/2010/main" val="4277626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86F9E4-8055-0B54-BC3F-EEA6E3292530}"/>
              </a:ext>
            </a:extLst>
          </p:cNvPr>
          <p:cNvSpPr>
            <a:spLocks noGrp="1"/>
          </p:cNvSpPr>
          <p:nvPr>
            <p:ph type="title"/>
          </p:nvPr>
        </p:nvSpPr>
        <p:spPr>
          <a:xfrm>
            <a:off x="838200" y="365125"/>
            <a:ext cx="10515600" cy="1325563"/>
          </a:xfrm>
        </p:spPr>
        <p:txBody>
          <a:bodyPr>
            <a:normAutofit/>
          </a:bodyPr>
          <a:lstStyle/>
          <a:p>
            <a:r>
              <a:rPr lang="en-IN" sz="5400"/>
              <a:t>Dashbaords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78C1598-A8B5-430D-EDF4-A046808E3DB1}"/>
              </a:ext>
            </a:extLst>
          </p:cNvPr>
          <p:cNvSpPr>
            <a:spLocks noGrp="1"/>
          </p:cNvSpPr>
          <p:nvPr>
            <p:ph idx="1"/>
          </p:nvPr>
        </p:nvSpPr>
        <p:spPr>
          <a:xfrm>
            <a:off x="838200" y="1929384"/>
            <a:ext cx="10515600" cy="4251960"/>
          </a:xfrm>
        </p:spPr>
        <p:txBody>
          <a:bodyPr>
            <a:normAutofit/>
          </a:bodyPr>
          <a:lstStyle/>
          <a:p>
            <a:pPr marL="0" indent="0">
              <a:buNone/>
            </a:pPr>
            <a:r>
              <a:rPr lang="en-US" sz="2200" b="1" dirty="0"/>
              <a:t>Overview Analysis Dashboard</a:t>
            </a:r>
          </a:p>
          <a:p>
            <a:r>
              <a:rPr lang="en-US" sz="2200" dirty="0"/>
              <a:t>Provides a national-level summary of the 2024 Indian General Election results across all 543 Lok Sabha seats.</a:t>
            </a:r>
          </a:p>
          <a:p>
            <a:r>
              <a:rPr lang="en-US" sz="2200" dirty="0"/>
              <a:t>Displays alliance-wise seat distribution for NDA, I.N.D.I.A, and Other/Independent parties along with their percentage share of total seats.</a:t>
            </a:r>
          </a:p>
          <a:p>
            <a:r>
              <a:rPr lang="en-US" sz="2200" dirty="0"/>
              <a:t>Highlights the overall winning alliance and balance of power in Parliament at a glance.</a:t>
            </a:r>
          </a:p>
          <a:p>
            <a:r>
              <a:rPr lang="en-US" sz="2200" dirty="0"/>
              <a:t>Shows alliance composition by listing the number of parties and individual party seat contributions within each alliance.</a:t>
            </a:r>
          </a:p>
          <a:p>
            <a:r>
              <a:rPr lang="en-US" sz="2200" dirty="0"/>
              <a:t>Acts as the starting point for analysis before drilling down into state-level and constituency-level insights.</a:t>
            </a:r>
          </a:p>
          <a:p>
            <a:pPr marL="0" indent="0">
              <a:buNone/>
            </a:pPr>
            <a:endParaRPr lang="en-IN" sz="2200" dirty="0"/>
          </a:p>
        </p:txBody>
      </p:sp>
    </p:spTree>
    <p:extLst>
      <p:ext uri="{BB962C8B-B14F-4D97-AF65-F5344CB8AC3E}">
        <p14:creationId xmlns:p14="http://schemas.microsoft.com/office/powerpoint/2010/main" val="407334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A2E7C1E-2B5A-4BBA-AE51-1CD8C19309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6">
            <a:extLst>
              <a:ext uri="{FF2B5EF4-FFF2-40B4-BE49-F238E27FC236}">
                <a16:creationId xmlns:a16="http://schemas.microsoft.com/office/drawing/2014/main" id="{43DF76B1-5174-4FAF-9D19-FFEE984268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sX0" fmla="*/ 0 w 10515600"/>
              <a:gd name="csY0" fmla="*/ 0 h 5416094"/>
              <a:gd name="csX1" fmla="*/ 552069 w 10515600"/>
              <a:gd name="csY1" fmla="*/ 0 h 5416094"/>
              <a:gd name="csX2" fmla="*/ 893826 w 10515600"/>
              <a:gd name="csY2" fmla="*/ 0 h 5416094"/>
              <a:gd name="csX3" fmla="*/ 1761363 w 10515600"/>
              <a:gd name="csY3" fmla="*/ 0 h 5416094"/>
              <a:gd name="csX4" fmla="*/ 2313432 w 10515600"/>
              <a:gd name="csY4" fmla="*/ 0 h 5416094"/>
              <a:gd name="csX5" fmla="*/ 2865501 w 10515600"/>
              <a:gd name="csY5" fmla="*/ 0 h 5416094"/>
              <a:gd name="csX6" fmla="*/ 3733038 w 10515600"/>
              <a:gd name="csY6" fmla="*/ 0 h 5416094"/>
              <a:gd name="csX7" fmla="*/ 4179951 w 10515600"/>
              <a:gd name="csY7" fmla="*/ 0 h 5416094"/>
              <a:gd name="csX8" fmla="*/ 5047488 w 10515600"/>
              <a:gd name="csY8" fmla="*/ 0 h 5416094"/>
              <a:gd name="csX9" fmla="*/ 5915025 w 10515600"/>
              <a:gd name="csY9" fmla="*/ 0 h 5416094"/>
              <a:gd name="csX10" fmla="*/ 6572250 w 10515600"/>
              <a:gd name="csY10" fmla="*/ 0 h 5416094"/>
              <a:gd name="csX11" fmla="*/ 7439787 w 10515600"/>
              <a:gd name="csY11" fmla="*/ 0 h 5416094"/>
              <a:gd name="csX12" fmla="*/ 7991856 w 10515600"/>
              <a:gd name="csY12" fmla="*/ 0 h 5416094"/>
              <a:gd name="csX13" fmla="*/ 8543925 w 10515600"/>
              <a:gd name="csY13" fmla="*/ 0 h 5416094"/>
              <a:gd name="csX14" fmla="*/ 9306306 w 10515600"/>
              <a:gd name="csY14" fmla="*/ 0 h 5416094"/>
              <a:gd name="csX15" fmla="*/ 9858375 w 10515600"/>
              <a:gd name="csY15" fmla="*/ 0 h 5416094"/>
              <a:gd name="csX16" fmla="*/ 10515600 w 10515600"/>
              <a:gd name="csY16" fmla="*/ 0 h 5416094"/>
              <a:gd name="csX17" fmla="*/ 10515600 w 10515600"/>
              <a:gd name="csY17" fmla="*/ 785334 h 5416094"/>
              <a:gd name="csX18" fmla="*/ 10515600 w 10515600"/>
              <a:gd name="csY18" fmla="*/ 1516506 h 5416094"/>
              <a:gd name="csX19" fmla="*/ 10515600 w 10515600"/>
              <a:gd name="csY19" fmla="*/ 2247679 h 5416094"/>
              <a:gd name="csX20" fmla="*/ 10515600 w 10515600"/>
              <a:gd name="csY20" fmla="*/ 2762208 h 5416094"/>
              <a:gd name="csX21" fmla="*/ 10515600 w 10515600"/>
              <a:gd name="csY21" fmla="*/ 3330898 h 5416094"/>
              <a:gd name="csX22" fmla="*/ 10515600 w 10515600"/>
              <a:gd name="csY22" fmla="*/ 4062071 h 5416094"/>
              <a:gd name="csX23" fmla="*/ 10515600 w 10515600"/>
              <a:gd name="csY23" fmla="*/ 4684921 h 5416094"/>
              <a:gd name="csX24" fmla="*/ 10515600 w 10515600"/>
              <a:gd name="csY24" fmla="*/ 5416094 h 5416094"/>
              <a:gd name="csX25" fmla="*/ 9753219 w 10515600"/>
              <a:gd name="csY25" fmla="*/ 5416094 h 5416094"/>
              <a:gd name="csX26" fmla="*/ 9411462 w 10515600"/>
              <a:gd name="csY26" fmla="*/ 5416094 h 5416094"/>
              <a:gd name="csX27" fmla="*/ 8754237 w 10515600"/>
              <a:gd name="csY27" fmla="*/ 5416094 h 5416094"/>
              <a:gd name="csX28" fmla="*/ 8307324 w 10515600"/>
              <a:gd name="csY28" fmla="*/ 5416094 h 5416094"/>
              <a:gd name="csX29" fmla="*/ 7544943 w 10515600"/>
              <a:gd name="csY29" fmla="*/ 5416094 h 5416094"/>
              <a:gd name="csX30" fmla="*/ 7098030 w 10515600"/>
              <a:gd name="csY30" fmla="*/ 5416094 h 5416094"/>
              <a:gd name="csX31" fmla="*/ 6335649 w 10515600"/>
              <a:gd name="csY31" fmla="*/ 5416094 h 5416094"/>
              <a:gd name="csX32" fmla="*/ 5993892 w 10515600"/>
              <a:gd name="csY32" fmla="*/ 5416094 h 5416094"/>
              <a:gd name="csX33" fmla="*/ 5231511 w 10515600"/>
              <a:gd name="csY33" fmla="*/ 5416094 h 5416094"/>
              <a:gd name="csX34" fmla="*/ 4784598 w 10515600"/>
              <a:gd name="csY34" fmla="*/ 5416094 h 5416094"/>
              <a:gd name="csX35" fmla="*/ 4442841 w 10515600"/>
              <a:gd name="csY35" fmla="*/ 5416094 h 5416094"/>
              <a:gd name="csX36" fmla="*/ 3995928 w 10515600"/>
              <a:gd name="csY36" fmla="*/ 5416094 h 5416094"/>
              <a:gd name="csX37" fmla="*/ 3233547 w 10515600"/>
              <a:gd name="csY37" fmla="*/ 5416094 h 5416094"/>
              <a:gd name="csX38" fmla="*/ 2786634 w 10515600"/>
              <a:gd name="csY38" fmla="*/ 5416094 h 5416094"/>
              <a:gd name="csX39" fmla="*/ 2444877 w 10515600"/>
              <a:gd name="csY39" fmla="*/ 5416094 h 5416094"/>
              <a:gd name="csX40" fmla="*/ 1997964 w 10515600"/>
              <a:gd name="csY40" fmla="*/ 5416094 h 5416094"/>
              <a:gd name="csX41" fmla="*/ 1445895 w 10515600"/>
              <a:gd name="csY41" fmla="*/ 5416094 h 5416094"/>
              <a:gd name="csX42" fmla="*/ 788670 w 10515600"/>
              <a:gd name="csY42" fmla="*/ 5416094 h 5416094"/>
              <a:gd name="csX43" fmla="*/ 0 w 10515600"/>
              <a:gd name="csY43" fmla="*/ 5416094 h 5416094"/>
              <a:gd name="csX44" fmla="*/ 0 w 10515600"/>
              <a:gd name="csY44" fmla="*/ 4630760 h 5416094"/>
              <a:gd name="csX45" fmla="*/ 0 w 10515600"/>
              <a:gd name="csY45" fmla="*/ 3953749 h 5416094"/>
              <a:gd name="csX46" fmla="*/ 0 w 10515600"/>
              <a:gd name="csY46" fmla="*/ 3276737 h 5416094"/>
              <a:gd name="csX47" fmla="*/ 0 w 10515600"/>
              <a:gd name="csY47" fmla="*/ 2599725 h 5416094"/>
              <a:gd name="csX48" fmla="*/ 0 w 10515600"/>
              <a:gd name="csY48" fmla="*/ 1922713 h 5416094"/>
              <a:gd name="csX49" fmla="*/ 0 w 10515600"/>
              <a:gd name="csY49" fmla="*/ 1299863 h 5416094"/>
              <a:gd name="csX50" fmla="*/ 0 w 10515600"/>
              <a:gd name="csY50" fmla="*/ 0 h 54160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voting results&#10;&#10;AI-generated content may be incorrect.">
            <a:extLst>
              <a:ext uri="{FF2B5EF4-FFF2-40B4-BE49-F238E27FC236}">
                <a16:creationId xmlns:a16="http://schemas.microsoft.com/office/drawing/2014/main" id="{F2E1412D-234D-F70A-7A5B-530A92F6ED2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33804" y="914400"/>
            <a:ext cx="9648192" cy="4968819"/>
          </a:xfrm>
          <a:prstGeom prst="rect">
            <a:avLst/>
          </a:prstGeom>
        </p:spPr>
      </p:pic>
    </p:spTree>
    <p:extLst>
      <p:ext uri="{BB962C8B-B14F-4D97-AF65-F5344CB8AC3E}">
        <p14:creationId xmlns:p14="http://schemas.microsoft.com/office/powerpoint/2010/main" val="2640395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4989FA-CB7C-23B0-6ED8-91C6FD76F01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39BAAC0-3E88-A20C-E253-DDCD7303AE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700D1B-C952-7D17-C788-C41E95AE8C45}"/>
              </a:ext>
            </a:extLst>
          </p:cNvPr>
          <p:cNvSpPr>
            <a:spLocks noGrp="1"/>
          </p:cNvSpPr>
          <p:nvPr>
            <p:ph type="title"/>
          </p:nvPr>
        </p:nvSpPr>
        <p:spPr>
          <a:xfrm>
            <a:off x="838200" y="365125"/>
            <a:ext cx="10515600" cy="1325563"/>
          </a:xfrm>
        </p:spPr>
        <p:txBody>
          <a:bodyPr>
            <a:normAutofit/>
          </a:bodyPr>
          <a:lstStyle/>
          <a:p>
            <a:r>
              <a:rPr lang="en-IN" sz="5400"/>
              <a:t>Dashbaords</a:t>
            </a:r>
          </a:p>
        </p:txBody>
      </p:sp>
      <p:sp>
        <p:nvSpPr>
          <p:cNvPr id="10" name="sketch line">
            <a:extLst>
              <a:ext uri="{FF2B5EF4-FFF2-40B4-BE49-F238E27FC236}">
                <a16:creationId xmlns:a16="http://schemas.microsoft.com/office/drawing/2014/main" id="{B3524892-85D6-892B-55B0-63A77CA370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DBBF5AA-BA53-3E34-D945-ED0A776C6AF8}"/>
              </a:ext>
            </a:extLst>
          </p:cNvPr>
          <p:cNvSpPr>
            <a:spLocks noGrp="1"/>
          </p:cNvSpPr>
          <p:nvPr>
            <p:ph idx="1"/>
          </p:nvPr>
        </p:nvSpPr>
        <p:spPr>
          <a:xfrm>
            <a:off x="838200" y="1929384"/>
            <a:ext cx="10515600" cy="4251960"/>
          </a:xfrm>
        </p:spPr>
        <p:txBody>
          <a:bodyPr>
            <a:normAutofit lnSpcReduction="10000"/>
          </a:bodyPr>
          <a:lstStyle/>
          <a:p>
            <a:pPr marL="0" indent="0">
              <a:buNone/>
            </a:pPr>
            <a:r>
              <a:rPr lang="en-US" sz="2400" b="1" dirty="0"/>
              <a:t>State Demographics Analysis Dashboard</a:t>
            </a:r>
          </a:p>
          <a:p>
            <a:r>
              <a:rPr lang="en-US" sz="2400" dirty="0"/>
              <a:t>Visualizes state-wise distribution of total Lok Sabha seats along with NDA and I.N.D.I.A seat counts for each state.</a:t>
            </a:r>
          </a:p>
          <a:p>
            <a:r>
              <a:rPr lang="en-US" sz="2400" dirty="0"/>
              <a:t>Highlights the alliance holding majority seats in each state using color-coded geographic maps.</a:t>
            </a:r>
          </a:p>
          <a:p>
            <a:r>
              <a:rPr lang="en-US" sz="2400" dirty="0"/>
              <a:t>Displays constituency-level winning candidate and party information through an interactive map with hover details.</a:t>
            </a:r>
          </a:p>
          <a:p>
            <a:r>
              <a:rPr lang="en-US" sz="2400" dirty="0"/>
              <a:t>Identifies states where either the NDA or I.N.D.I.A alliance has secured the maximum number of seats.</a:t>
            </a:r>
          </a:p>
          <a:p>
            <a:r>
              <a:rPr lang="en-US" sz="2400" dirty="0"/>
              <a:t>Enables users to select a state and drill down into detailed constituency-level insights dynamically.</a:t>
            </a:r>
          </a:p>
          <a:p>
            <a:pPr marL="0" indent="0">
              <a:buNone/>
            </a:pPr>
            <a:endParaRPr lang="en-IN" sz="2200" dirty="0"/>
          </a:p>
        </p:txBody>
      </p:sp>
    </p:spTree>
    <p:extLst>
      <p:ext uri="{BB962C8B-B14F-4D97-AF65-F5344CB8AC3E}">
        <p14:creationId xmlns:p14="http://schemas.microsoft.com/office/powerpoint/2010/main" val="25802580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A2E7C1E-2B5A-4BBA-AE51-1CD8C19309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6">
            <a:extLst>
              <a:ext uri="{FF2B5EF4-FFF2-40B4-BE49-F238E27FC236}">
                <a16:creationId xmlns:a16="http://schemas.microsoft.com/office/drawing/2014/main" id="{43DF76B1-5174-4FAF-9D19-FFEE984268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sX0" fmla="*/ 0 w 10515600"/>
              <a:gd name="csY0" fmla="*/ 0 h 5416094"/>
              <a:gd name="csX1" fmla="*/ 552069 w 10515600"/>
              <a:gd name="csY1" fmla="*/ 0 h 5416094"/>
              <a:gd name="csX2" fmla="*/ 893826 w 10515600"/>
              <a:gd name="csY2" fmla="*/ 0 h 5416094"/>
              <a:gd name="csX3" fmla="*/ 1761363 w 10515600"/>
              <a:gd name="csY3" fmla="*/ 0 h 5416094"/>
              <a:gd name="csX4" fmla="*/ 2313432 w 10515600"/>
              <a:gd name="csY4" fmla="*/ 0 h 5416094"/>
              <a:gd name="csX5" fmla="*/ 2865501 w 10515600"/>
              <a:gd name="csY5" fmla="*/ 0 h 5416094"/>
              <a:gd name="csX6" fmla="*/ 3733038 w 10515600"/>
              <a:gd name="csY6" fmla="*/ 0 h 5416094"/>
              <a:gd name="csX7" fmla="*/ 4179951 w 10515600"/>
              <a:gd name="csY7" fmla="*/ 0 h 5416094"/>
              <a:gd name="csX8" fmla="*/ 5047488 w 10515600"/>
              <a:gd name="csY8" fmla="*/ 0 h 5416094"/>
              <a:gd name="csX9" fmla="*/ 5915025 w 10515600"/>
              <a:gd name="csY9" fmla="*/ 0 h 5416094"/>
              <a:gd name="csX10" fmla="*/ 6572250 w 10515600"/>
              <a:gd name="csY10" fmla="*/ 0 h 5416094"/>
              <a:gd name="csX11" fmla="*/ 7439787 w 10515600"/>
              <a:gd name="csY11" fmla="*/ 0 h 5416094"/>
              <a:gd name="csX12" fmla="*/ 7991856 w 10515600"/>
              <a:gd name="csY12" fmla="*/ 0 h 5416094"/>
              <a:gd name="csX13" fmla="*/ 8543925 w 10515600"/>
              <a:gd name="csY13" fmla="*/ 0 h 5416094"/>
              <a:gd name="csX14" fmla="*/ 9306306 w 10515600"/>
              <a:gd name="csY14" fmla="*/ 0 h 5416094"/>
              <a:gd name="csX15" fmla="*/ 9858375 w 10515600"/>
              <a:gd name="csY15" fmla="*/ 0 h 5416094"/>
              <a:gd name="csX16" fmla="*/ 10515600 w 10515600"/>
              <a:gd name="csY16" fmla="*/ 0 h 5416094"/>
              <a:gd name="csX17" fmla="*/ 10515600 w 10515600"/>
              <a:gd name="csY17" fmla="*/ 785334 h 5416094"/>
              <a:gd name="csX18" fmla="*/ 10515600 w 10515600"/>
              <a:gd name="csY18" fmla="*/ 1516506 h 5416094"/>
              <a:gd name="csX19" fmla="*/ 10515600 w 10515600"/>
              <a:gd name="csY19" fmla="*/ 2247679 h 5416094"/>
              <a:gd name="csX20" fmla="*/ 10515600 w 10515600"/>
              <a:gd name="csY20" fmla="*/ 2762208 h 5416094"/>
              <a:gd name="csX21" fmla="*/ 10515600 w 10515600"/>
              <a:gd name="csY21" fmla="*/ 3330898 h 5416094"/>
              <a:gd name="csX22" fmla="*/ 10515600 w 10515600"/>
              <a:gd name="csY22" fmla="*/ 4062071 h 5416094"/>
              <a:gd name="csX23" fmla="*/ 10515600 w 10515600"/>
              <a:gd name="csY23" fmla="*/ 4684921 h 5416094"/>
              <a:gd name="csX24" fmla="*/ 10515600 w 10515600"/>
              <a:gd name="csY24" fmla="*/ 5416094 h 5416094"/>
              <a:gd name="csX25" fmla="*/ 9753219 w 10515600"/>
              <a:gd name="csY25" fmla="*/ 5416094 h 5416094"/>
              <a:gd name="csX26" fmla="*/ 9411462 w 10515600"/>
              <a:gd name="csY26" fmla="*/ 5416094 h 5416094"/>
              <a:gd name="csX27" fmla="*/ 8754237 w 10515600"/>
              <a:gd name="csY27" fmla="*/ 5416094 h 5416094"/>
              <a:gd name="csX28" fmla="*/ 8307324 w 10515600"/>
              <a:gd name="csY28" fmla="*/ 5416094 h 5416094"/>
              <a:gd name="csX29" fmla="*/ 7544943 w 10515600"/>
              <a:gd name="csY29" fmla="*/ 5416094 h 5416094"/>
              <a:gd name="csX30" fmla="*/ 7098030 w 10515600"/>
              <a:gd name="csY30" fmla="*/ 5416094 h 5416094"/>
              <a:gd name="csX31" fmla="*/ 6335649 w 10515600"/>
              <a:gd name="csY31" fmla="*/ 5416094 h 5416094"/>
              <a:gd name="csX32" fmla="*/ 5993892 w 10515600"/>
              <a:gd name="csY32" fmla="*/ 5416094 h 5416094"/>
              <a:gd name="csX33" fmla="*/ 5231511 w 10515600"/>
              <a:gd name="csY33" fmla="*/ 5416094 h 5416094"/>
              <a:gd name="csX34" fmla="*/ 4784598 w 10515600"/>
              <a:gd name="csY34" fmla="*/ 5416094 h 5416094"/>
              <a:gd name="csX35" fmla="*/ 4442841 w 10515600"/>
              <a:gd name="csY35" fmla="*/ 5416094 h 5416094"/>
              <a:gd name="csX36" fmla="*/ 3995928 w 10515600"/>
              <a:gd name="csY36" fmla="*/ 5416094 h 5416094"/>
              <a:gd name="csX37" fmla="*/ 3233547 w 10515600"/>
              <a:gd name="csY37" fmla="*/ 5416094 h 5416094"/>
              <a:gd name="csX38" fmla="*/ 2786634 w 10515600"/>
              <a:gd name="csY38" fmla="*/ 5416094 h 5416094"/>
              <a:gd name="csX39" fmla="*/ 2444877 w 10515600"/>
              <a:gd name="csY39" fmla="*/ 5416094 h 5416094"/>
              <a:gd name="csX40" fmla="*/ 1997964 w 10515600"/>
              <a:gd name="csY40" fmla="*/ 5416094 h 5416094"/>
              <a:gd name="csX41" fmla="*/ 1445895 w 10515600"/>
              <a:gd name="csY41" fmla="*/ 5416094 h 5416094"/>
              <a:gd name="csX42" fmla="*/ 788670 w 10515600"/>
              <a:gd name="csY42" fmla="*/ 5416094 h 5416094"/>
              <a:gd name="csX43" fmla="*/ 0 w 10515600"/>
              <a:gd name="csY43" fmla="*/ 5416094 h 5416094"/>
              <a:gd name="csX44" fmla="*/ 0 w 10515600"/>
              <a:gd name="csY44" fmla="*/ 4630760 h 5416094"/>
              <a:gd name="csX45" fmla="*/ 0 w 10515600"/>
              <a:gd name="csY45" fmla="*/ 3953749 h 5416094"/>
              <a:gd name="csX46" fmla="*/ 0 w 10515600"/>
              <a:gd name="csY46" fmla="*/ 3276737 h 5416094"/>
              <a:gd name="csX47" fmla="*/ 0 w 10515600"/>
              <a:gd name="csY47" fmla="*/ 2599725 h 5416094"/>
              <a:gd name="csX48" fmla="*/ 0 w 10515600"/>
              <a:gd name="csY48" fmla="*/ 1922713 h 5416094"/>
              <a:gd name="csX49" fmla="*/ 0 w 10515600"/>
              <a:gd name="csY49" fmla="*/ 1299863 h 5416094"/>
              <a:gd name="csX50" fmla="*/ 0 w 10515600"/>
              <a:gd name="csY50" fmla="*/ 0 h 54160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computer screen&#10;&#10;AI-generated content may be incorrect.">
            <a:extLst>
              <a:ext uri="{FF2B5EF4-FFF2-40B4-BE49-F238E27FC236}">
                <a16:creationId xmlns:a16="http://schemas.microsoft.com/office/drawing/2014/main" id="{90D4E29D-D5E3-FD1C-0A39-AE086732CE6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81486" y="914400"/>
            <a:ext cx="8952828" cy="4968819"/>
          </a:xfrm>
          <a:prstGeom prst="rect">
            <a:avLst/>
          </a:prstGeom>
        </p:spPr>
      </p:pic>
    </p:spTree>
    <p:extLst>
      <p:ext uri="{BB962C8B-B14F-4D97-AF65-F5344CB8AC3E}">
        <p14:creationId xmlns:p14="http://schemas.microsoft.com/office/powerpoint/2010/main" val="949622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1667FA-65D3-1AA2-7CEA-047103598B7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61D35F6-B284-0FC6-C352-9F36A6E6FA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3464BA-88B8-DFF9-A6E0-4A4A4F52602E}"/>
              </a:ext>
            </a:extLst>
          </p:cNvPr>
          <p:cNvSpPr>
            <a:spLocks noGrp="1"/>
          </p:cNvSpPr>
          <p:nvPr>
            <p:ph type="title"/>
          </p:nvPr>
        </p:nvSpPr>
        <p:spPr>
          <a:xfrm>
            <a:off x="838200" y="365125"/>
            <a:ext cx="10515600" cy="1325563"/>
          </a:xfrm>
        </p:spPr>
        <p:txBody>
          <a:bodyPr>
            <a:normAutofit/>
          </a:bodyPr>
          <a:lstStyle/>
          <a:p>
            <a:r>
              <a:rPr lang="en-IN" sz="5400"/>
              <a:t>Dashbaords</a:t>
            </a:r>
          </a:p>
        </p:txBody>
      </p:sp>
      <p:sp>
        <p:nvSpPr>
          <p:cNvPr id="10" name="sketch line">
            <a:extLst>
              <a:ext uri="{FF2B5EF4-FFF2-40B4-BE49-F238E27FC236}">
                <a16:creationId xmlns:a16="http://schemas.microsoft.com/office/drawing/2014/main" id="{34B0121B-3AE7-055B-2738-187D10EA1A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923AC44-86DD-355B-37AE-B1888DCBEBFA}"/>
              </a:ext>
            </a:extLst>
          </p:cNvPr>
          <p:cNvSpPr>
            <a:spLocks noGrp="1"/>
          </p:cNvSpPr>
          <p:nvPr>
            <p:ph idx="1"/>
          </p:nvPr>
        </p:nvSpPr>
        <p:spPr>
          <a:xfrm>
            <a:off x="838200" y="1929384"/>
            <a:ext cx="10515600" cy="4251960"/>
          </a:xfrm>
        </p:spPr>
        <p:txBody>
          <a:bodyPr>
            <a:normAutofit lnSpcReduction="10000"/>
          </a:bodyPr>
          <a:lstStyle/>
          <a:p>
            <a:pPr marL="0" indent="0">
              <a:buNone/>
            </a:pPr>
            <a:r>
              <a:rPr lang="en-US" sz="2400" b="1" dirty="0"/>
              <a:t>Constituency Analysis Dashboard</a:t>
            </a:r>
          </a:p>
          <a:p>
            <a:r>
              <a:rPr lang="en-US" sz="2400" dirty="0"/>
              <a:t>Provides a detailed analysis of a selected constituency by displaying total votes, EVM votes, postal votes, and the number of candidates contesting.</a:t>
            </a:r>
          </a:p>
          <a:p>
            <a:r>
              <a:rPr lang="en-US" sz="2400" dirty="0"/>
              <a:t>Highlights the winning candidate along with party affiliation, total votes secured, and vote share percentage.</a:t>
            </a:r>
          </a:p>
          <a:p>
            <a:r>
              <a:rPr lang="en-US" sz="2400" dirty="0"/>
              <a:t>Displays the runner-up and second runner-up candidates to clearly show electoral competition within the constituency.</a:t>
            </a:r>
          </a:p>
          <a:p>
            <a:r>
              <a:rPr lang="en-US" sz="2400" dirty="0"/>
              <a:t>Enables constituency selection through a slicer, dynamically updating all metrics and candidate details.</a:t>
            </a:r>
          </a:p>
          <a:p>
            <a:r>
              <a:rPr lang="en-US" sz="2400" dirty="0"/>
              <a:t>Helps compare candidate performance and vote margins at a granular constituency level.</a:t>
            </a:r>
          </a:p>
          <a:p>
            <a:pPr marL="0" indent="0">
              <a:buNone/>
            </a:pPr>
            <a:endParaRPr lang="en-IN" sz="2200" dirty="0"/>
          </a:p>
        </p:txBody>
      </p:sp>
    </p:spTree>
    <p:extLst>
      <p:ext uri="{BB962C8B-B14F-4D97-AF65-F5344CB8AC3E}">
        <p14:creationId xmlns:p14="http://schemas.microsoft.com/office/powerpoint/2010/main" val="2440676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A2E7C1E-2B5A-4BBA-AE51-1CD8C19309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6">
            <a:extLst>
              <a:ext uri="{FF2B5EF4-FFF2-40B4-BE49-F238E27FC236}">
                <a16:creationId xmlns:a16="http://schemas.microsoft.com/office/drawing/2014/main" id="{43DF76B1-5174-4FAF-9D19-FFEE984268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sX0" fmla="*/ 0 w 10515600"/>
              <a:gd name="csY0" fmla="*/ 0 h 5416094"/>
              <a:gd name="csX1" fmla="*/ 552069 w 10515600"/>
              <a:gd name="csY1" fmla="*/ 0 h 5416094"/>
              <a:gd name="csX2" fmla="*/ 893826 w 10515600"/>
              <a:gd name="csY2" fmla="*/ 0 h 5416094"/>
              <a:gd name="csX3" fmla="*/ 1761363 w 10515600"/>
              <a:gd name="csY3" fmla="*/ 0 h 5416094"/>
              <a:gd name="csX4" fmla="*/ 2313432 w 10515600"/>
              <a:gd name="csY4" fmla="*/ 0 h 5416094"/>
              <a:gd name="csX5" fmla="*/ 2865501 w 10515600"/>
              <a:gd name="csY5" fmla="*/ 0 h 5416094"/>
              <a:gd name="csX6" fmla="*/ 3733038 w 10515600"/>
              <a:gd name="csY6" fmla="*/ 0 h 5416094"/>
              <a:gd name="csX7" fmla="*/ 4179951 w 10515600"/>
              <a:gd name="csY7" fmla="*/ 0 h 5416094"/>
              <a:gd name="csX8" fmla="*/ 5047488 w 10515600"/>
              <a:gd name="csY8" fmla="*/ 0 h 5416094"/>
              <a:gd name="csX9" fmla="*/ 5915025 w 10515600"/>
              <a:gd name="csY9" fmla="*/ 0 h 5416094"/>
              <a:gd name="csX10" fmla="*/ 6572250 w 10515600"/>
              <a:gd name="csY10" fmla="*/ 0 h 5416094"/>
              <a:gd name="csX11" fmla="*/ 7439787 w 10515600"/>
              <a:gd name="csY11" fmla="*/ 0 h 5416094"/>
              <a:gd name="csX12" fmla="*/ 7991856 w 10515600"/>
              <a:gd name="csY12" fmla="*/ 0 h 5416094"/>
              <a:gd name="csX13" fmla="*/ 8543925 w 10515600"/>
              <a:gd name="csY13" fmla="*/ 0 h 5416094"/>
              <a:gd name="csX14" fmla="*/ 9306306 w 10515600"/>
              <a:gd name="csY14" fmla="*/ 0 h 5416094"/>
              <a:gd name="csX15" fmla="*/ 9858375 w 10515600"/>
              <a:gd name="csY15" fmla="*/ 0 h 5416094"/>
              <a:gd name="csX16" fmla="*/ 10515600 w 10515600"/>
              <a:gd name="csY16" fmla="*/ 0 h 5416094"/>
              <a:gd name="csX17" fmla="*/ 10515600 w 10515600"/>
              <a:gd name="csY17" fmla="*/ 785334 h 5416094"/>
              <a:gd name="csX18" fmla="*/ 10515600 w 10515600"/>
              <a:gd name="csY18" fmla="*/ 1516506 h 5416094"/>
              <a:gd name="csX19" fmla="*/ 10515600 w 10515600"/>
              <a:gd name="csY19" fmla="*/ 2247679 h 5416094"/>
              <a:gd name="csX20" fmla="*/ 10515600 w 10515600"/>
              <a:gd name="csY20" fmla="*/ 2762208 h 5416094"/>
              <a:gd name="csX21" fmla="*/ 10515600 w 10515600"/>
              <a:gd name="csY21" fmla="*/ 3330898 h 5416094"/>
              <a:gd name="csX22" fmla="*/ 10515600 w 10515600"/>
              <a:gd name="csY22" fmla="*/ 4062071 h 5416094"/>
              <a:gd name="csX23" fmla="*/ 10515600 w 10515600"/>
              <a:gd name="csY23" fmla="*/ 4684921 h 5416094"/>
              <a:gd name="csX24" fmla="*/ 10515600 w 10515600"/>
              <a:gd name="csY24" fmla="*/ 5416094 h 5416094"/>
              <a:gd name="csX25" fmla="*/ 9753219 w 10515600"/>
              <a:gd name="csY25" fmla="*/ 5416094 h 5416094"/>
              <a:gd name="csX26" fmla="*/ 9411462 w 10515600"/>
              <a:gd name="csY26" fmla="*/ 5416094 h 5416094"/>
              <a:gd name="csX27" fmla="*/ 8754237 w 10515600"/>
              <a:gd name="csY27" fmla="*/ 5416094 h 5416094"/>
              <a:gd name="csX28" fmla="*/ 8307324 w 10515600"/>
              <a:gd name="csY28" fmla="*/ 5416094 h 5416094"/>
              <a:gd name="csX29" fmla="*/ 7544943 w 10515600"/>
              <a:gd name="csY29" fmla="*/ 5416094 h 5416094"/>
              <a:gd name="csX30" fmla="*/ 7098030 w 10515600"/>
              <a:gd name="csY30" fmla="*/ 5416094 h 5416094"/>
              <a:gd name="csX31" fmla="*/ 6335649 w 10515600"/>
              <a:gd name="csY31" fmla="*/ 5416094 h 5416094"/>
              <a:gd name="csX32" fmla="*/ 5993892 w 10515600"/>
              <a:gd name="csY32" fmla="*/ 5416094 h 5416094"/>
              <a:gd name="csX33" fmla="*/ 5231511 w 10515600"/>
              <a:gd name="csY33" fmla="*/ 5416094 h 5416094"/>
              <a:gd name="csX34" fmla="*/ 4784598 w 10515600"/>
              <a:gd name="csY34" fmla="*/ 5416094 h 5416094"/>
              <a:gd name="csX35" fmla="*/ 4442841 w 10515600"/>
              <a:gd name="csY35" fmla="*/ 5416094 h 5416094"/>
              <a:gd name="csX36" fmla="*/ 3995928 w 10515600"/>
              <a:gd name="csY36" fmla="*/ 5416094 h 5416094"/>
              <a:gd name="csX37" fmla="*/ 3233547 w 10515600"/>
              <a:gd name="csY37" fmla="*/ 5416094 h 5416094"/>
              <a:gd name="csX38" fmla="*/ 2786634 w 10515600"/>
              <a:gd name="csY38" fmla="*/ 5416094 h 5416094"/>
              <a:gd name="csX39" fmla="*/ 2444877 w 10515600"/>
              <a:gd name="csY39" fmla="*/ 5416094 h 5416094"/>
              <a:gd name="csX40" fmla="*/ 1997964 w 10515600"/>
              <a:gd name="csY40" fmla="*/ 5416094 h 5416094"/>
              <a:gd name="csX41" fmla="*/ 1445895 w 10515600"/>
              <a:gd name="csY41" fmla="*/ 5416094 h 5416094"/>
              <a:gd name="csX42" fmla="*/ 788670 w 10515600"/>
              <a:gd name="csY42" fmla="*/ 5416094 h 5416094"/>
              <a:gd name="csX43" fmla="*/ 0 w 10515600"/>
              <a:gd name="csY43" fmla="*/ 5416094 h 5416094"/>
              <a:gd name="csX44" fmla="*/ 0 w 10515600"/>
              <a:gd name="csY44" fmla="*/ 4630760 h 5416094"/>
              <a:gd name="csX45" fmla="*/ 0 w 10515600"/>
              <a:gd name="csY45" fmla="*/ 3953749 h 5416094"/>
              <a:gd name="csX46" fmla="*/ 0 w 10515600"/>
              <a:gd name="csY46" fmla="*/ 3276737 h 5416094"/>
              <a:gd name="csX47" fmla="*/ 0 w 10515600"/>
              <a:gd name="csY47" fmla="*/ 2599725 h 5416094"/>
              <a:gd name="csX48" fmla="*/ 0 w 10515600"/>
              <a:gd name="csY48" fmla="*/ 1922713 h 5416094"/>
              <a:gd name="csX49" fmla="*/ 0 w 10515600"/>
              <a:gd name="csY49" fmla="*/ 1299863 h 5416094"/>
              <a:gd name="csX50" fmla="*/ 0 w 10515600"/>
              <a:gd name="csY50" fmla="*/ 0 h 54160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voting results&#10;&#10;AI-generated content may be incorrect.">
            <a:extLst>
              <a:ext uri="{FF2B5EF4-FFF2-40B4-BE49-F238E27FC236}">
                <a16:creationId xmlns:a16="http://schemas.microsoft.com/office/drawing/2014/main" id="{3C22010A-9DCB-F5C8-3620-6385EF9A2D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80086" y="914400"/>
            <a:ext cx="8755627" cy="4968819"/>
          </a:xfrm>
          <a:prstGeom prst="rect">
            <a:avLst/>
          </a:prstGeom>
        </p:spPr>
      </p:pic>
    </p:spTree>
    <p:extLst>
      <p:ext uri="{BB962C8B-B14F-4D97-AF65-F5344CB8AC3E}">
        <p14:creationId xmlns:p14="http://schemas.microsoft.com/office/powerpoint/2010/main" val="21718177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E8451E-977C-7988-24E5-16BE6782669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FB417-5D44-997A-25CC-EFFA7D5266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E49B04-043D-558F-433C-10B5BD1EAF4F}"/>
              </a:ext>
            </a:extLst>
          </p:cNvPr>
          <p:cNvSpPr>
            <a:spLocks noGrp="1"/>
          </p:cNvSpPr>
          <p:nvPr>
            <p:ph type="title"/>
          </p:nvPr>
        </p:nvSpPr>
        <p:spPr>
          <a:xfrm>
            <a:off x="838200" y="365125"/>
            <a:ext cx="10515600" cy="1325563"/>
          </a:xfrm>
        </p:spPr>
        <p:txBody>
          <a:bodyPr>
            <a:normAutofit/>
          </a:bodyPr>
          <a:lstStyle/>
          <a:p>
            <a:r>
              <a:rPr lang="en-IN" sz="5400"/>
              <a:t>Dashbaords</a:t>
            </a:r>
          </a:p>
        </p:txBody>
      </p:sp>
      <p:sp>
        <p:nvSpPr>
          <p:cNvPr id="10" name="sketch line">
            <a:extLst>
              <a:ext uri="{FF2B5EF4-FFF2-40B4-BE49-F238E27FC236}">
                <a16:creationId xmlns:a16="http://schemas.microsoft.com/office/drawing/2014/main" id="{20154461-A59F-0E76-CD78-BF1A9CF85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9E9DB2C-1D82-DB96-A1FA-0C9BBC97E688}"/>
              </a:ext>
            </a:extLst>
          </p:cNvPr>
          <p:cNvSpPr>
            <a:spLocks noGrp="1"/>
          </p:cNvSpPr>
          <p:nvPr>
            <p:ph idx="1"/>
          </p:nvPr>
        </p:nvSpPr>
        <p:spPr>
          <a:xfrm>
            <a:off x="838200" y="1929384"/>
            <a:ext cx="10515600" cy="4251960"/>
          </a:xfrm>
        </p:spPr>
        <p:txBody>
          <a:bodyPr>
            <a:normAutofit lnSpcReduction="10000"/>
          </a:bodyPr>
          <a:lstStyle/>
          <a:p>
            <a:pPr marL="0" indent="0">
              <a:buNone/>
            </a:pPr>
            <a:r>
              <a:rPr lang="en-US" sz="2400" b="1" dirty="0"/>
              <a:t>State Analysis Dashboard</a:t>
            </a:r>
          </a:p>
          <a:p>
            <a:r>
              <a:rPr lang="en-US" sz="2400" dirty="0"/>
              <a:t>Provides a focused analysis of a selected state by displaying alliance-wise seat distribution for that state.</a:t>
            </a:r>
          </a:p>
          <a:p>
            <a:r>
              <a:rPr lang="en-US" sz="2400" dirty="0"/>
              <a:t>Highlights the dominance of alliances (NDA and Others) using KPI cards to show total seats won.</a:t>
            </a:r>
          </a:p>
          <a:p>
            <a:r>
              <a:rPr lang="en-US" sz="2400" dirty="0"/>
              <a:t>Presents party-wise results within the state, showing each party’s alliance affiliation and seats won.</a:t>
            </a:r>
          </a:p>
          <a:p>
            <a:r>
              <a:rPr lang="en-US" sz="2400" dirty="0"/>
              <a:t>Uses a donut chart to visually represent party-wise seat share, making comparison easy and intuitive.</a:t>
            </a:r>
          </a:p>
          <a:p>
            <a:r>
              <a:rPr lang="en-US" sz="2400" dirty="0"/>
              <a:t>Enables state selection through a slicer, dynamically updating all visuals for comparative state analysis.</a:t>
            </a:r>
          </a:p>
          <a:p>
            <a:pPr marL="0" indent="0">
              <a:buNone/>
            </a:pPr>
            <a:endParaRPr lang="en-IN" sz="2200" dirty="0"/>
          </a:p>
        </p:txBody>
      </p:sp>
    </p:spTree>
    <p:extLst>
      <p:ext uri="{BB962C8B-B14F-4D97-AF65-F5344CB8AC3E}">
        <p14:creationId xmlns:p14="http://schemas.microsoft.com/office/powerpoint/2010/main" val="2151915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A2E7C1E-2B5A-4BBA-AE51-1CD8C19309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6">
            <a:extLst>
              <a:ext uri="{FF2B5EF4-FFF2-40B4-BE49-F238E27FC236}">
                <a16:creationId xmlns:a16="http://schemas.microsoft.com/office/drawing/2014/main" id="{43DF76B1-5174-4FAF-9D19-FFEE984268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sX0" fmla="*/ 0 w 10515600"/>
              <a:gd name="csY0" fmla="*/ 0 h 5416094"/>
              <a:gd name="csX1" fmla="*/ 552069 w 10515600"/>
              <a:gd name="csY1" fmla="*/ 0 h 5416094"/>
              <a:gd name="csX2" fmla="*/ 893826 w 10515600"/>
              <a:gd name="csY2" fmla="*/ 0 h 5416094"/>
              <a:gd name="csX3" fmla="*/ 1761363 w 10515600"/>
              <a:gd name="csY3" fmla="*/ 0 h 5416094"/>
              <a:gd name="csX4" fmla="*/ 2313432 w 10515600"/>
              <a:gd name="csY4" fmla="*/ 0 h 5416094"/>
              <a:gd name="csX5" fmla="*/ 2865501 w 10515600"/>
              <a:gd name="csY5" fmla="*/ 0 h 5416094"/>
              <a:gd name="csX6" fmla="*/ 3733038 w 10515600"/>
              <a:gd name="csY6" fmla="*/ 0 h 5416094"/>
              <a:gd name="csX7" fmla="*/ 4179951 w 10515600"/>
              <a:gd name="csY7" fmla="*/ 0 h 5416094"/>
              <a:gd name="csX8" fmla="*/ 5047488 w 10515600"/>
              <a:gd name="csY8" fmla="*/ 0 h 5416094"/>
              <a:gd name="csX9" fmla="*/ 5915025 w 10515600"/>
              <a:gd name="csY9" fmla="*/ 0 h 5416094"/>
              <a:gd name="csX10" fmla="*/ 6572250 w 10515600"/>
              <a:gd name="csY10" fmla="*/ 0 h 5416094"/>
              <a:gd name="csX11" fmla="*/ 7439787 w 10515600"/>
              <a:gd name="csY11" fmla="*/ 0 h 5416094"/>
              <a:gd name="csX12" fmla="*/ 7991856 w 10515600"/>
              <a:gd name="csY12" fmla="*/ 0 h 5416094"/>
              <a:gd name="csX13" fmla="*/ 8543925 w 10515600"/>
              <a:gd name="csY13" fmla="*/ 0 h 5416094"/>
              <a:gd name="csX14" fmla="*/ 9306306 w 10515600"/>
              <a:gd name="csY14" fmla="*/ 0 h 5416094"/>
              <a:gd name="csX15" fmla="*/ 9858375 w 10515600"/>
              <a:gd name="csY15" fmla="*/ 0 h 5416094"/>
              <a:gd name="csX16" fmla="*/ 10515600 w 10515600"/>
              <a:gd name="csY16" fmla="*/ 0 h 5416094"/>
              <a:gd name="csX17" fmla="*/ 10515600 w 10515600"/>
              <a:gd name="csY17" fmla="*/ 785334 h 5416094"/>
              <a:gd name="csX18" fmla="*/ 10515600 w 10515600"/>
              <a:gd name="csY18" fmla="*/ 1516506 h 5416094"/>
              <a:gd name="csX19" fmla="*/ 10515600 w 10515600"/>
              <a:gd name="csY19" fmla="*/ 2247679 h 5416094"/>
              <a:gd name="csX20" fmla="*/ 10515600 w 10515600"/>
              <a:gd name="csY20" fmla="*/ 2762208 h 5416094"/>
              <a:gd name="csX21" fmla="*/ 10515600 w 10515600"/>
              <a:gd name="csY21" fmla="*/ 3330898 h 5416094"/>
              <a:gd name="csX22" fmla="*/ 10515600 w 10515600"/>
              <a:gd name="csY22" fmla="*/ 4062071 h 5416094"/>
              <a:gd name="csX23" fmla="*/ 10515600 w 10515600"/>
              <a:gd name="csY23" fmla="*/ 4684921 h 5416094"/>
              <a:gd name="csX24" fmla="*/ 10515600 w 10515600"/>
              <a:gd name="csY24" fmla="*/ 5416094 h 5416094"/>
              <a:gd name="csX25" fmla="*/ 9753219 w 10515600"/>
              <a:gd name="csY25" fmla="*/ 5416094 h 5416094"/>
              <a:gd name="csX26" fmla="*/ 9411462 w 10515600"/>
              <a:gd name="csY26" fmla="*/ 5416094 h 5416094"/>
              <a:gd name="csX27" fmla="*/ 8754237 w 10515600"/>
              <a:gd name="csY27" fmla="*/ 5416094 h 5416094"/>
              <a:gd name="csX28" fmla="*/ 8307324 w 10515600"/>
              <a:gd name="csY28" fmla="*/ 5416094 h 5416094"/>
              <a:gd name="csX29" fmla="*/ 7544943 w 10515600"/>
              <a:gd name="csY29" fmla="*/ 5416094 h 5416094"/>
              <a:gd name="csX30" fmla="*/ 7098030 w 10515600"/>
              <a:gd name="csY30" fmla="*/ 5416094 h 5416094"/>
              <a:gd name="csX31" fmla="*/ 6335649 w 10515600"/>
              <a:gd name="csY31" fmla="*/ 5416094 h 5416094"/>
              <a:gd name="csX32" fmla="*/ 5993892 w 10515600"/>
              <a:gd name="csY32" fmla="*/ 5416094 h 5416094"/>
              <a:gd name="csX33" fmla="*/ 5231511 w 10515600"/>
              <a:gd name="csY33" fmla="*/ 5416094 h 5416094"/>
              <a:gd name="csX34" fmla="*/ 4784598 w 10515600"/>
              <a:gd name="csY34" fmla="*/ 5416094 h 5416094"/>
              <a:gd name="csX35" fmla="*/ 4442841 w 10515600"/>
              <a:gd name="csY35" fmla="*/ 5416094 h 5416094"/>
              <a:gd name="csX36" fmla="*/ 3995928 w 10515600"/>
              <a:gd name="csY36" fmla="*/ 5416094 h 5416094"/>
              <a:gd name="csX37" fmla="*/ 3233547 w 10515600"/>
              <a:gd name="csY37" fmla="*/ 5416094 h 5416094"/>
              <a:gd name="csX38" fmla="*/ 2786634 w 10515600"/>
              <a:gd name="csY38" fmla="*/ 5416094 h 5416094"/>
              <a:gd name="csX39" fmla="*/ 2444877 w 10515600"/>
              <a:gd name="csY39" fmla="*/ 5416094 h 5416094"/>
              <a:gd name="csX40" fmla="*/ 1997964 w 10515600"/>
              <a:gd name="csY40" fmla="*/ 5416094 h 5416094"/>
              <a:gd name="csX41" fmla="*/ 1445895 w 10515600"/>
              <a:gd name="csY41" fmla="*/ 5416094 h 5416094"/>
              <a:gd name="csX42" fmla="*/ 788670 w 10515600"/>
              <a:gd name="csY42" fmla="*/ 5416094 h 5416094"/>
              <a:gd name="csX43" fmla="*/ 0 w 10515600"/>
              <a:gd name="csY43" fmla="*/ 5416094 h 5416094"/>
              <a:gd name="csX44" fmla="*/ 0 w 10515600"/>
              <a:gd name="csY44" fmla="*/ 4630760 h 5416094"/>
              <a:gd name="csX45" fmla="*/ 0 w 10515600"/>
              <a:gd name="csY45" fmla="*/ 3953749 h 5416094"/>
              <a:gd name="csX46" fmla="*/ 0 w 10515600"/>
              <a:gd name="csY46" fmla="*/ 3276737 h 5416094"/>
              <a:gd name="csX47" fmla="*/ 0 w 10515600"/>
              <a:gd name="csY47" fmla="*/ 2599725 h 5416094"/>
              <a:gd name="csX48" fmla="*/ 0 w 10515600"/>
              <a:gd name="csY48" fmla="*/ 1922713 h 5416094"/>
              <a:gd name="csX49" fmla="*/ 0 w 10515600"/>
              <a:gd name="csY49" fmla="*/ 1299863 h 5416094"/>
              <a:gd name="csX50" fmla="*/ 0 w 10515600"/>
              <a:gd name="csY50" fmla="*/ 0 h 54160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political map&#10;&#10;AI-generated content may be incorrect.">
            <a:extLst>
              <a:ext uri="{FF2B5EF4-FFF2-40B4-BE49-F238E27FC236}">
                <a16:creationId xmlns:a16="http://schemas.microsoft.com/office/drawing/2014/main" id="{EF49976A-AE49-9D6E-5BFC-15BAB551EA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41171" y="914400"/>
            <a:ext cx="8833457" cy="4968819"/>
          </a:xfrm>
          <a:prstGeom prst="rect">
            <a:avLst/>
          </a:prstGeom>
        </p:spPr>
      </p:pic>
    </p:spTree>
    <p:extLst>
      <p:ext uri="{BB962C8B-B14F-4D97-AF65-F5344CB8AC3E}">
        <p14:creationId xmlns:p14="http://schemas.microsoft.com/office/powerpoint/2010/main" val="965356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4DBF00-2656-F995-0D31-F2BAEF003562}"/>
              </a:ext>
            </a:extLst>
          </p:cNvPr>
          <p:cNvSpPr>
            <a:spLocks noGrp="1"/>
          </p:cNvSpPr>
          <p:nvPr>
            <p:ph type="title"/>
          </p:nvPr>
        </p:nvSpPr>
        <p:spPr>
          <a:xfrm>
            <a:off x="686834" y="1153572"/>
            <a:ext cx="3200400" cy="4461163"/>
          </a:xfrm>
        </p:spPr>
        <p:txBody>
          <a:bodyPr>
            <a:normAutofit/>
          </a:bodyPr>
          <a:lstStyle/>
          <a:p>
            <a:r>
              <a:rPr lang="en-IN">
                <a:solidFill>
                  <a:srgbClr val="FFFFFF"/>
                </a:solidFill>
              </a:rPr>
              <a:t>Conclusion and Future Scope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20BAAE5-011D-53D6-2369-EB072E04A267}"/>
              </a:ext>
            </a:extLst>
          </p:cNvPr>
          <p:cNvSpPr>
            <a:spLocks noGrp="1"/>
          </p:cNvSpPr>
          <p:nvPr>
            <p:ph idx="1"/>
          </p:nvPr>
        </p:nvSpPr>
        <p:spPr>
          <a:xfrm>
            <a:off x="4447308" y="591344"/>
            <a:ext cx="6906491" cy="5585619"/>
          </a:xfrm>
        </p:spPr>
        <p:txBody>
          <a:bodyPr anchor="ctr">
            <a:normAutofit/>
          </a:bodyPr>
          <a:lstStyle/>
          <a:p>
            <a:pPr marL="0" indent="0">
              <a:buNone/>
            </a:pPr>
            <a:r>
              <a:rPr lang="en-US" sz="1500" b="1" dirty="0"/>
              <a:t>Conclusion</a:t>
            </a:r>
          </a:p>
          <a:p>
            <a:r>
              <a:rPr lang="en-US" sz="1500" dirty="0"/>
              <a:t>Infosys </a:t>
            </a:r>
            <a:r>
              <a:rPr lang="en-US" sz="1500" dirty="0" err="1"/>
              <a:t>ElectViz</a:t>
            </a:r>
            <a:r>
              <a:rPr lang="en-US" sz="1500" dirty="0"/>
              <a:t> successfully transforms complex 2024 Indian General Election data into clear, interactive, and media-friendly dashboards.</a:t>
            </a:r>
          </a:p>
          <a:p>
            <a:r>
              <a:rPr lang="en-US" sz="1500" dirty="0"/>
              <a:t>The project enables multi-level analysis by integrating constituency, state, party, and alliance data into a unified analytical model.</a:t>
            </a:r>
          </a:p>
          <a:p>
            <a:r>
              <a:rPr lang="en-US" sz="1500" dirty="0"/>
              <a:t>Advanced data modeling and DAX calculations ensure accurate insights such as alliance dominance, seat distribution, and candidate performance.</a:t>
            </a:r>
          </a:p>
          <a:p>
            <a:r>
              <a:rPr lang="en-US" sz="1500" dirty="0"/>
              <a:t>The dashboards support fast interpretation and effective election storytelling for media and analytical users.</a:t>
            </a:r>
          </a:p>
          <a:p>
            <a:pPr marL="0" indent="0">
              <a:buNone/>
            </a:pPr>
            <a:r>
              <a:rPr lang="en-US" sz="1500" b="1" dirty="0"/>
              <a:t>Future Scope</a:t>
            </a:r>
          </a:p>
          <a:p>
            <a:r>
              <a:rPr lang="en-US" sz="1500" dirty="0"/>
              <a:t>Extend the platform to include historical election data for trend and comparative analysis across multiple election years.</a:t>
            </a:r>
          </a:p>
          <a:p>
            <a:r>
              <a:rPr lang="en-US" sz="1500" dirty="0"/>
              <a:t>Integrate real-time or near real-time data feeds to support live election result tracking.</a:t>
            </a:r>
          </a:p>
          <a:p>
            <a:r>
              <a:rPr lang="en-US" sz="1500" dirty="0"/>
              <a:t>Apply predictive analytics and AI models to forecast election outcomes and voter behavior patterns.</a:t>
            </a:r>
          </a:p>
          <a:p>
            <a:r>
              <a:rPr lang="en-US" sz="1500" dirty="0"/>
              <a:t>Enhance demographic analysis by incorporating voter age, gender, and regional socio-economic data.</a:t>
            </a:r>
          </a:p>
          <a:p>
            <a:r>
              <a:rPr lang="en-US" sz="1500" dirty="0"/>
              <a:t>Deploy the solution as a web-based or cloud-hosted analytics platform for wider accessibility.</a:t>
            </a:r>
          </a:p>
          <a:p>
            <a:pPr marL="0" indent="0">
              <a:buNone/>
            </a:pPr>
            <a:endParaRPr lang="en-US" sz="1500" dirty="0"/>
          </a:p>
          <a:p>
            <a:pPr marL="0" indent="0">
              <a:buNone/>
            </a:pPr>
            <a:endParaRPr lang="en-IN" sz="1500" dirty="0"/>
          </a:p>
        </p:txBody>
      </p:sp>
    </p:spTree>
    <p:extLst>
      <p:ext uri="{BB962C8B-B14F-4D97-AF65-F5344CB8AC3E}">
        <p14:creationId xmlns:p14="http://schemas.microsoft.com/office/powerpoint/2010/main" val="10031315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1591</Words>
  <Application>Microsoft Office PowerPoint</Application>
  <PresentationFormat>Widescreen</PresentationFormat>
  <Paragraphs>138</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Aptos</vt:lpstr>
      <vt:lpstr>Aptos Display</vt:lpstr>
      <vt:lpstr>Arial</vt:lpstr>
      <vt:lpstr>Calibri</vt:lpstr>
      <vt:lpstr>DM Serif Display</vt:lpstr>
      <vt:lpstr>Open Sauce</vt:lpstr>
      <vt:lpstr>Office Theme</vt:lpstr>
      <vt:lpstr>Infosys ElectViz – Election Data Visualization for Media</vt:lpstr>
      <vt:lpstr>Abstract</vt:lpstr>
      <vt:lpstr>Background &amp; Motivation </vt:lpstr>
      <vt:lpstr>Dataset Overview</vt:lpstr>
      <vt:lpstr>Dataset Overview</vt:lpstr>
      <vt:lpstr>Dataset Overview</vt:lpstr>
      <vt:lpstr>Data Modeling &amp; Architecture</vt:lpstr>
      <vt:lpstr>Data Modeling &amp; Architecture</vt:lpstr>
      <vt:lpstr>DAX Measures &amp; Business Logic</vt:lpstr>
      <vt:lpstr>DAX Measures &amp; Business Logic</vt:lpstr>
      <vt:lpstr>DAX Measures &amp; Business Logic</vt:lpstr>
      <vt:lpstr>DAX Measures &amp; Business Logic</vt:lpstr>
      <vt:lpstr>Dashbaords</vt:lpstr>
      <vt:lpstr>PowerPoint Presentation</vt:lpstr>
      <vt:lpstr>Dashbaords</vt:lpstr>
      <vt:lpstr>PowerPoint Presentation</vt:lpstr>
      <vt:lpstr>Dashbaords</vt:lpstr>
      <vt:lpstr>PowerPoint Presentation</vt:lpstr>
      <vt:lpstr>Dashbaords</vt:lpstr>
      <vt:lpstr>PowerPoint Presentation</vt:lpstr>
      <vt:lpstr>Conclusion and Future Scope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Jaavanika L</dc:creator>
  <cp:lastModifiedBy>Jaavanika L</cp:lastModifiedBy>
  <cp:revision>1</cp:revision>
  <dcterms:created xsi:type="dcterms:W3CDTF">2026-01-03T14:05:51Z</dcterms:created>
  <dcterms:modified xsi:type="dcterms:W3CDTF">2026-01-03T14:32:21Z</dcterms:modified>
</cp:coreProperties>
</file>